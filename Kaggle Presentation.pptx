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Giovanny Rodríguez. I finished fifth place as a solo competitor. The main idea of my work is simple. The public attack already worked. My main problem was replay time. I studied the full path of each candidate. I did not only optimize the first tool call. I also looked at what the model did after the tool had already succeeded. This helped me optimize GPT-OSS and Gemma in different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explain the solution in five steps. First, I will show the real bottleneck. Second, I will explain the GPT-OSS path. Third, I will explain the Gemma path. Fourth, I will describe my replay-guided search method. Finally, I will explain how the method moved from HTTP experiments to the email family used in my final submission. The most important sentence is this: the optimization unit was the complete trajectory, not just the tool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detail is that the tool call is not the end. After the tool executes, the runtime rebuilds the history and asks the model for another generation. This second generation was expensive. For GPT-OSS, post-tool generation was about twenty-seven percent of the retained replay time. For Gemma, it was about forty percent. So the goal was not only to make the first call faster. The goal was to make the full replay path cheaper.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GPT-OSS, I found that format was more important than simple instructions like be fast. The user message could affect the effective Harmony transcript. The useful path was to align the message with a state that looked natural for tool calling. I had to consider three things together: the model learned format, the parser accepted format, and the runtime history after the tool. The final retained program moved GPT-OSS from about one hundred nine seconds to about eighty-four seconds for two hundred candidates, while keeping all findings and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Gemma was different. The empty thought was already in the template, so adding another empty thought did not solve the problem. The main opportunity was the output policy. Gemma could use a shorter bare tool-call format that the parser still accepted. But the most important lesson is on the table. One variant made the first generation faster, but it made the post-tool generation slower, so the total replay became slower. This showed why I had to measure the complete replay, not only the first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search method was simple but strict. First, I reconstructed the exact runtime format. Then I changed one mechanism at a time. After that, I emitted the real candidates from the actual AttackAlgorithm. I did not use a detached prompt simulator as final evidence. The gate was strict: two hundred findings, two hundred distinct cells, correct arguments, and normal completion. If a change was faster because it skipped calls or collapsed cells, I rejected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timing work used HTTP, even though I did not expect marker exfiltration to be a safe private strategy. HTTP was useful because it gave me a stable test case. Later, I moved the same execution strategy to email. This was not a direct copy. The schema changed, the arguments changed, and the model behavior changed. But the method transferred. My highest public submission scored zero private. The selected email family transferred almost one to one and finished fifth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main takeaways are these. First, optimize the full trajectory. Second, use model-specific paths, because GPT-OSS and Gemma do not behave the same way. Third, measure negative results, because a change that looks faster can still be worse end to end. Fourth, keep mechanisms diverse, because the best public family may not transfer privately.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7456" y="0"/>
            <a:ext cx="2066544" cy="1417320"/>
          </a:xfrm>
          <a:prstGeom prst="ellipse">
            <a:avLst/>
          </a:prstGeom>
          <a:solidFill>
            <a:srgbClr val="FFDF3C"/>
          </a:solidFill>
          <a:ln w="12700">
            <a:solidFill>
              <a:srgbClr val="FFDF3C">
                <a:alpha val="0"/>
              </a:srgbClr>
            </a:solidFill>
            <a:prstDash val="solid"/>
          </a:ln>
        </p:spPr>
      </p:sp>
      <p:sp>
        <p:nvSpPr>
          <p:cNvPr id="3" name="Shape 1"/>
          <p:cNvSpPr/>
          <p:nvPr/>
        </p:nvSpPr>
        <p:spPr>
          <a:xfrm>
            <a:off x="7498080" y="228600"/>
            <a:ext cx="1645920" cy="1536192"/>
          </a:xfrm>
          <a:prstGeom prst="ellipse">
            <a:avLst/>
          </a:prstGeom>
          <a:solidFill>
            <a:srgbClr val="25A94D"/>
          </a:solidFill>
          <a:ln w="12700">
            <a:solidFill>
              <a:srgbClr val="25A94D">
                <a:alpha val="0"/>
              </a:srgbClr>
            </a:solidFill>
            <a:prstDash val="solid"/>
          </a:ln>
        </p:spPr>
      </p:sp>
      <p:sp>
        <p:nvSpPr>
          <p:cNvPr id="4" name="Shape 2"/>
          <p:cNvSpPr/>
          <p:nvPr/>
        </p:nvSpPr>
        <p:spPr>
          <a:xfrm>
            <a:off x="8083296" y="411480"/>
            <a:ext cx="1060704" cy="1271016"/>
          </a:xfrm>
          <a:prstGeom prst="ellipse">
            <a:avLst/>
          </a:prstGeom>
          <a:solidFill>
            <a:srgbClr val="24B6E6"/>
          </a:solidFill>
          <a:ln w="12700">
            <a:solidFill>
              <a:srgbClr val="24B6E6">
                <a:alpha val="0"/>
              </a:srgbClr>
            </a:solidFill>
            <a:prstDash val="solid"/>
          </a:ln>
        </p:spPr>
      </p:sp>
      <p:sp>
        <p:nvSpPr>
          <p:cNvPr id="5" name="Shape 3"/>
          <p:cNvSpPr/>
          <p:nvPr/>
        </p:nvSpPr>
        <p:spPr>
          <a:xfrm>
            <a:off x="0" y="4096512"/>
            <a:ext cx="1444752" cy="1042416"/>
          </a:xfrm>
          <a:prstGeom prst="ellipse">
            <a:avLst/>
          </a:prstGeom>
          <a:solidFill>
            <a:srgbClr val="FFDF3C"/>
          </a:solidFill>
          <a:ln w="12700">
            <a:solidFill>
              <a:srgbClr val="FFDF3C">
                <a:alpha val="0"/>
              </a:srgbClr>
            </a:solidFill>
            <a:prstDash val="solid"/>
          </a:ln>
        </p:spPr>
      </p:sp>
      <p:sp>
        <p:nvSpPr>
          <p:cNvPr id="6" name="Shape 4"/>
          <p:cNvSpPr/>
          <p:nvPr/>
        </p:nvSpPr>
        <p:spPr>
          <a:xfrm>
            <a:off x="82296" y="4389120"/>
            <a:ext cx="1252728" cy="749808"/>
          </a:xfrm>
          <a:prstGeom prst="ellipse">
            <a:avLst/>
          </a:prstGeom>
          <a:solidFill>
            <a:srgbClr val="25A94D"/>
          </a:solidFill>
          <a:ln w="12700">
            <a:solidFill>
              <a:srgbClr val="25A94D">
                <a:alpha val="0"/>
              </a:srgbClr>
            </a:solidFill>
            <a:prstDash val="solid"/>
          </a:ln>
        </p:spPr>
      </p:sp>
      <p:sp>
        <p:nvSpPr>
          <p:cNvPr id="7" name="Shape 5"/>
          <p:cNvSpPr/>
          <p:nvPr/>
        </p:nvSpPr>
        <p:spPr>
          <a:xfrm>
            <a:off x="347472" y="4599432"/>
            <a:ext cx="960120" cy="539496"/>
          </a:xfrm>
          <a:prstGeom prst="ellipse">
            <a:avLst/>
          </a:prstGeom>
          <a:solidFill>
            <a:srgbClr val="24B6E6"/>
          </a:solidFill>
          <a:ln w="12700">
            <a:solidFill>
              <a:srgbClr val="24B6E6">
                <a:alpha val="0"/>
              </a:srgbClr>
            </a:solidFill>
            <a:prstDash val="solid"/>
          </a:ln>
        </p:spPr>
      </p:sp>
      <p:sp>
        <p:nvSpPr>
          <p:cNvPr id="8" name="Text 6"/>
          <p:cNvSpPr/>
          <p:nvPr/>
        </p:nvSpPr>
        <p:spPr>
          <a:xfrm>
            <a:off x="621792" y="320040"/>
            <a:ext cx="1463040" cy="347472"/>
          </a:xfrm>
          <a:prstGeom prst="rect">
            <a:avLst/>
          </a:prstGeom>
          <a:noFill/>
          <a:ln/>
        </p:spPr>
        <p:txBody>
          <a:bodyPr wrap="square" lIns="0" tIns="0" rIns="0" bIns="0" rtlCol="0" anchor="ctr">
            <a:normAutofit/>
          </a:bodyPr>
          <a:lstStyle/>
          <a:p>
            <a:pPr indent="0" marL="0">
              <a:buNone/>
            </a:pPr>
            <a:r>
              <a:rPr lang="en-US" sz="2100" b="1" dirty="0">
                <a:solidFill>
                  <a:srgbClr val="24B6E6"/>
                </a:solidFill>
                <a:latin typeface="Arial" pitchFamily="34" charset="0"/>
                <a:ea typeface="Arial" pitchFamily="34" charset="-122"/>
                <a:cs typeface="Arial" pitchFamily="34" charset="-120"/>
              </a:rPr>
              <a:t>kaggle</a:t>
            </a:r>
            <a:endParaRPr lang="en-US" sz="2100" dirty="0"/>
          </a:p>
        </p:txBody>
      </p:sp>
      <p:sp>
        <p:nvSpPr>
          <p:cNvPr id="9" name="Text 7"/>
          <p:cNvSpPr/>
          <p:nvPr/>
        </p:nvSpPr>
        <p:spPr>
          <a:xfrm>
            <a:off x="649224" y="960120"/>
            <a:ext cx="6172200" cy="228600"/>
          </a:xfrm>
          <a:prstGeom prst="rect">
            <a:avLst/>
          </a:prstGeom>
          <a:noFill/>
          <a:ln/>
        </p:spPr>
        <p:txBody>
          <a:bodyPr wrap="square" lIns="0" tIns="0" rIns="0" bIns="0" rtlCol="0" anchor="ctr">
            <a:normAutofit/>
          </a:bodyPr>
          <a:lstStyle/>
          <a:p>
            <a:pPr indent="0" marL="0">
              <a:buNone/>
            </a:pPr>
            <a:r>
              <a:rPr lang="en-US" sz="1020" b="1" spc="120" kern="0" dirty="0">
                <a:solidFill>
                  <a:srgbClr val="106E90"/>
                </a:solidFill>
                <a:latin typeface="Arial" pitchFamily="34" charset="0"/>
                <a:ea typeface="Arial" pitchFamily="34" charset="-122"/>
                <a:cs typeface="Arial" pitchFamily="34" charset="-120"/>
              </a:rPr>
              <a:t>AI AGENT SECURITY</a:t>
            </a:r>
            <a:endParaRPr lang="en-US" sz="1020" dirty="0"/>
          </a:p>
        </p:txBody>
      </p:sp>
      <p:sp>
        <p:nvSpPr>
          <p:cNvPr id="10" name="Text 8"/>
          <p:cNvSpPr/>
          <p:nvPr/>
        </p:nvSpPr>
        <p:spPr>
          <a:xfrm>
            <a:off x="649224" y="1298448"/>
            <a:ext cx="6839712" cy="1115568"/>
          </a:xfrm>
          <a:prstGeom prst="rect">
            <a:avLst/>
          </a:prstGeom>
          <a:noFill/>
          <a:ln/>
        </p:spPr>
        <p:txBody>
          <a:bodyPr wrap="square" lIns="0" tIns="0" rIns="0" bIns="0" rtlCol="0" anchor="ctr">
            <a:normAutofit/>
          </a:bodyPr>
          <a:lstStyle/>
          <a:p>
            <a:pPr indent="0" marL="0">
              <a:buNone/>
            </a:pPr>
            <a:r>
              <a:rPr lang="en-US" sz="3000" b="1" dirty="0">
                <a:solidFill>
                  <a:srgbClr val="1D252B"/>
                </a:solidFill>
                <a:latin typeface="Arial" pitchFamily="34" charset="0"/>
                <a:ea typeface="Arial" pitchFamily="34" charset="-122"/>
                <a:cs typeface="Arial" pitchFamily="34" charset="-120"/>
              </a:rPr>
              <a:t>Compiling User Messages</a:t>
            </a:r>
            <a:endParaRPr lang="en-US" sz="3000" dirty="0"/>
          </a:p>
          <a:p>
            <a:pPr indent="0" marL="0">
              <a:buNone/>
            </a:pPr>
            <a:r>
              <a:rPr lang="en-US" sz="3000" b="1" dirty="0">
                <a:solidFill>
                  <a:srgbClr val="1D252B"/>
                </a:solidFill>
                <a:latin typeface="Arial" pitchFamily="34" charset="0"/>
                <a:ea typeface="Arial" pitchFamily="34" charset="-122"/>
                <a:cs typeface="Arial" pitchFamily="34" charset="-120"/>
              </a:rPr>
              <a:t>into Faster Tool Calls</a:t>
            </a:r>
            <a:endParaRPr lang="en-US" sz="3000" dirty="0"/>
          </a:p>
        </p:txBody>
      </p:sp>
      <p:sp>
        <p:nvSpPr>
          <p:cNvPr id="11" name="Text 9"/>
          <p:cNvSpPr/>
          <p:nvPr/>
        </p:nvSpPr>
        <p:spPr>
          <a:xfrm>
            <a:off x="667512" y="2551176"/>
            <a:ext cx="6949440" cy="338328"/>
          </a:xfrm>
          <a:prstGeom prst="rect">
            <a:avLst/>
          </a:prstGeom>
          <a:noFill/>
          <a:ln/>
        </p:spPr>
        <p:txBody>
          <a:bodyPr wrap="square" lIns="0" tIns="0" rIns="0" bIns="0" rtlCol="0" anchor="ctr">
            <a:normAutofit/>
          </a:bodyPr>
          <a:lstStyle/>
          <a:p>
            <a:pPr indent="0" marL="0">
              <a:buNone/>
            </a:pPr>
            <a:r>
              <a:rPr lang="en-US" sz="1430" dirty="0">
                <a:solidFill>
                  <a:srgbClr val="5B6871"/>
                </a:solidFill>
                <a:latin typeface="Arial" pitchFamily="34" charset="0"/>
                <a:ea typeface="Arial" pitchFamily="34" charset="-122"/>
                <a:cs typeface="Arial" pitchFamily="34" charset="-120"/>
              </a:rPr>
              <a:t>Model-specific replay optimization for GPT-OSS and Gemma</a:t>
            </a:r>
            <a:endParaRPr lang="en-US" sz="1430" dirty="0"/>
          </a:p>
        </p:txBody>
      </p:sp>
      <p:sp>
        <p:nvSpPr>
          <p:cNvPr id="12" name="Shape 10"/>
          <p:cNvSpPr/>
          <p:nvPr/>
        </p:nvSpPr>
        <p:spPr>
          <a:xfrm>
            <a:off x="676656" y="3026664"/>
            <a:ext cx="1097280" cy="237744"/>
          </a:xfrm>
          <a:prstGeom prst="roundRect">
            <a:avLst>
              <a:gd name="adj" fmla="val 34615"/>
            </a:avLst>
          </a:prstGeom>
          <a:solidFill>
            <a:srgbClr val="EFF9FC"/>
          </a:solidFill>
          <a:ln w="12700">
            <a:solidFill>
              <a:srgbClr val="EFF9FC"/>
            </a:solidFill>
            <a:prstDash val="solid"/>
          </a:ln>
        </p:spPr>
      </p:sp>
      <p:sp>
        <p:nvSpPr>
          <p:cNvPr id="13" name="Text 11"/>
          <p:cNvSpPr/>
          <p:nvPr/>
        </p:nvSpPr>
        <p:spPr>
          <a:xfrm>
            <a:off x="731520" y="3039466"/>
            <a:ext cx="987552" cy="192024"/>
          </a:xfrm>
          <a:prstGeom prst="rect">
            <a:avLst/>
          </a:prstGeom>
          <a:noFill/>
          <a:ln/>
        </p:spPr>
        <p:txBody>
          <a:bodyPr wrap="square" lIns="0" tIns="0" rIns="0" bIns="0" rtlCol="0" anchor="ctr">
            <a:normAutofit/>
          </a:bodyPr>
          <a:lstStyle/>
          <a:p>
            <a:pPr algn="ctr" indent="0" marL="0">
              <a:buNone/>
            </a:pPr>
            <a:r>
              <a:rPr lang="en-US" sz="810" b="1" dirty="0">
                <a:solidFill>
                  <a:srgbClr val="106E90"/>
                </a:solidFill>
                <a:latin typeface="Arial" pitchFamily="34" charset="0"/>
                <a:ea typeface="Arial" pitchFamily="34" charset="-122"/>
                <a:cs typeface="Arial" pitchFamily="34" charset="-120"/>
              </a:rPr>
              <a:t>5th place</a:t>
            </a:r>
            <a:endParaRPr lang="en-US" sz="810" dirty="0"/>
          </a:p>
        </p:txBody>
      </p:sp>
      <p:sp>
        <p:nvSpPr>
          <p:cNvPr id="14" name="Shape 12"/>
          <p:cNvSpPr/>
          <p:nvPr/>
        </p:nvSpPr>
        <p:spPr>
          <a:xfrm>
            <a:off x="1883664" y="3026664"/>
            <a:ext cx="2157984" cy="237744"/>
          </a:xfrm>
          <a:prstGeom prst="roundRect">
            <a:avLst>
              <a:gd name="adj" fmla="val 34615"/>
            </a:avLst>
          </a:prstGeom>
          <a:solidFill>
            <a:srgbClr val="E9F6ED"/>
          </a:solidFill>
          <a:ln w="12700">
            <a:solidFill>
              <a:srgbClr val="E9F6ED"/>
            </a:solidFill>
            <a:prstDash val="solid"/>
          </a:ln>
        </p:spPr>
      </p:sp>
      <p:sp>
        <p:nvSpPr>
          <p:cNvPr id="15" name="Text 13"/>
          <p:cNvSpPr/>
          <p:nvPr/>
        </p:nvSpPr>
        <p:spPr>
          <a:xfrm>
            <a:off x="1938528" y="3039466"/>
            <a:ext cx="2048256" cy="192024"/>
          </a:xfrm>
          <a:prstGeom prst="rect">
            <a:avLst/>
          </a:prstGeom>
          <a:noFill/>
          <a:ln/>
        </p:spPr>
        <p:txBody>
          <a:bodyPr wrap="square" lIns="0" tIns="0" rIns="0" bIns="0" rtlCol="0" anchor="ctr">
            <a:normAutofit/>
          </a:bodyPr>
          <a:lstStyle/>
          <a:p>
            <a:pPr algn="ctr" indent="0" marL="0">
              <a:buNone/>
            </a:pPr>
            <a:r>
              <a:rPr lang="en-US" sz="810" b="1" dirty="0">
                <a:solidFill>
                  <a:srgbClr val="25A94D"/>
                </a:solidFill>
                <a:latin typeface="Arial" pitchFamily="34" charset="0"/>
                <a:ea typeface="Arial" pitchFamily="34" charset="-122"/>
                <a:cs typeface="Arial" pitchFamily="34" charset="-120"/>
              </a:rPr>
              <a:t>Private score 40.365</a:t>
            </a:r>
            <a:endParaRPr lang="en-US" sz="810" dirty="0"/>
          </a:p>
        </p:txBody>
      </p:sp>
      <p:sp>
        <p:nvSpPr>
          <p:cNvPr id="16" name="Shape 14"/>
          <p:cNvSpPr/>
          <p:nvPr/>
        </p:nvSpPr>
        <p:spPr>
          <a:xfrm>
            <a:off x="4480560" y="3538728"/>
            <a:ext cx="3995928" cy="877824"/>
          </a:xfrm>
          <a:prstGeom prst="roundRect">
            <a:avLst>
              <a:gd name="adj" fmla="val 9375"/>
            </a:avLst>
          </a:prstGeom>
          <a:solidFill>
            <a:srgbClr val="F1F9FC"/>
          </a:solidFill>
          <a:ln w="8890">
            <a:solidFill>
              <a:srgbClr val="D9EFF7"/>
            </a:solidFill>
            <a:prstDash val="solid"/>
          </a:ln>
        </p:spPr>
      </p:sp>
      <p:sp>
        <p:nvSpPr>
          <p:cNvPr id="17" name="Text 15"/>
          <p:cNvSpPr/>
          <p:nvPr/>
        </p:nvSpPr>
        <p:spPr>
          <a:xfrm>
            <a:off x="4690872" y="3675888"/>
            <a:ext cx="3474720" cy="155448"/>
          </a:xfrm>
          <a:prstGeom prst="rect">
            <a:avLst/>
          </a:prstGeom>
          <a:noFill/>
          <a:ln/>
        </p:spPr>
        <p:txBody>
          <a:bodyPr wrap="square" lIns="0" tIns="0" rIns="0" bIns="0" rtlCol="0" anchor="ctr">
            <a:normAutofit/>
          </a:bodyPr>
          <a:lstStyle/>
          <a:p>
            <a:pPr indent="0" marL="0">
              <a:buNone/>
            </a:pPr>
            <a:r>
              <a:rPr lang="en-US" sz="920" b="1" dirty="0">
                <a:solidFill>
                  <a:srgbClr val="106E90"/>
                </a:solidFill>
                <a:latin typeface="Arial" pitchFamily="34" charset="0"/>
                <a:ea typeface="Arial" pitchFamily="34" charset="-122"/>
                <a:cs typeface="Arial" pitchFamily="34" charset="-120"/>
              </a:rPr>
              <a:t>MAIN IDEA</a:t>
            </a:r>
            <a:endParaRPr lang="en-US" sz="920" dirty="0"/>
          </a:p>
        </p:txBody>
      </p:sp>
      <p:sp>
        <p:nvSpPr>
          <p:cNvPr id="18" name="Text 16"/>
          <p:cNvSpPr/>
          <p:nvPr/>
        </p:nvSpPr>
        <p:spPr>
          <a:xfrm>
            <a:off x="4690872" y="3886200"/>
            <a:ext cx="3529584" cy="356616"/>
          </a:xfrm>
          <a:prstGeom prst="rect">
            <a:avLst/>
          </a:prstGeom>
          <a:noFill/>
          <a:ln/>
        </p:spPr>
        <p:txBody>
          <a:bodyPr wrap="square" lIns="0" tIns="0" rIns="0" bIns="0" rtlCol="0" anchor="ctr">
            <a:normAutofit/>
          </a:bodyPr>
          <a:lstStyle/>
          <a:p>
            <a:pPr indent="0" marL="0">
              <a:buNone/>
            </a:pPr>
            <a:r>
              <a:rPr lang="en-US" sz="1100" b="1" dirty="0">
                <a:solidFill>
                  <a:srgbClr val="1D252B"/>
                </a:solidFill>
                <a:latin typeface="Arial" pitchFamily="34" charset="0"/>
                <a:ea typeface="Arial" pitchFamily="34" charset="-122"/>
                <a:cs typeface="Arial" pitchFamily="34" charset="-120"/>
              </a:rPr>
              <a:t>The public attack already worked.</a:t>
            </a:r>
            <a:endParaRPr lang="en-US" sz="1100" dirty="0"/>
          </a:p>
          <a:p>
            <a:pPr indent="0" marL="0">
              <a:buNone/>
            </a:pPr>
            <a:r>
              <a:rPr lang="en-US" sz="1100" b="1" dirty="0">
                <a:solidFill>
                  <a:srgbClr val="1D252B"/>
                </a:solidFill>
                <a:latin typeface="Arial" pitchFamily="34" charset="0"/>
                <a:ea typeface="Arial" pitchFamily="34" charset="-122"/>
                <a:cs typeface="Arial" pitchFamily="34" charset="-120"/>
              </a:rPr>
              <a:t>My problem was how long it took to replay.</a:t>
            </a:r>
            <a:endParaRPr lang="en-US" sz="1100" dirty="0"/>
          </a:p>
        </p:txBody>
      </p:sp>
      <p:sp>
        <p:nvSpPr>
          <p:cNvPr id="19" name="Text 17"/>
          <p:cNvSpPr/>
          <p:nvPr/>
        </p:nvSpPr>
        <p:spPr>
          <a:xfrm>
            <a:off x="4681728" y="4352544"/>
            <a:ext cx="3611880" cy="164592"/>
          </a:xfrm>
          <a:prstGeom prst="rect">
            <a:avLst/>
          </a:prstGeom>
          <a:noFill/>
          <a:ln/>
        </p:spPr>
        <p:txBody>
          <a:bodyPr wrap="square" lIns="0" tIns="0" rIns="0" bIns="0" rtlCol="0" anchor="ctr">
            <a:normAutofit/>
          </a:bodyPr>
          <a:lstStyle/>
          <a:p>
            <a:pPr indent="0" marL="0">
              <a:buNone/>
            </a:pPr>
            <a:r>
              <a:rPr lang="en-US" sz="820" dirty="0">
                <a:solidFill>
                  <a:srgbClr val="5B6871"/>
                </a:solidFill>
                <a:latin typeface="Arial" pitchFamily="34" charset="0"/>
                <a:ea typeface="Arial" pitchFamily="34" charset="-122"/>
                <a:cs typeface="Arial" pitchFamily="34" charset="-120"/>
              </a:rPr>
              <a:t>I optimized the full model path, not only the first tool call.</a:t>
            </a:r>
            <a:endParaRPr lang="en-US" sz="820" dirty="0"/>
          </a:p>
        </p:txBody>
      </p:sp>
      <p:sp>
        <p:nvSpPr>
          <p:cNvPr id="20" name="Text 18"/>
          <p:cNvSpPr/>
          <p:nvPr/>
        </p:nvSpPr>
        <p:spPr>
          <a:xfrm>
            <a:off x="1499616" y="4361688"/>
            <a:ext cx="2852928" cy="228600"/>
          </a:xfrm>
          <a:prstGeom prst="rect">
            <a:avLst/>
          </a:prstGeom>
          <a:noFill/>
          <a:ln/>
        </p:spPr>
        <p:txBody>
          <a:bodyPr wrap="square" lIns="0" tIns="0" rIns="0" bIns="0" rtlCol="0" anchor="ctr">
            <a:normAutofit/>
          </a:bodyPr>
          <a:lstStyle/>
          <a:p>
            <a:pPr indent="0" marL="0">
              <a:buNone/>
            </a:pPr>
            <a:r>
              <a:rPr lang="en-US" sz="1300" b="1" dirty="0">
                <a:solidFill>
                  <a:srgbClr val="1D252B"/>
                </a:solidFill>
                <a:latin typeface="Arial" pitchFamily="34" charset="0"/>
                <a:ea typeface="Arial" pitchFamily="34" charset="-122"/>
                <a:cs typeface="Arial" pitchFamily="34" charset="-120"/>
              </a:rPr>
              <a:t>Giovanny Rodríguez</a:t>
            </a:r>
            <a:endParaRPr lang="en-US" sz="1300" dirty="0"/>
          </a:p>
        </p:txBody>
      </p:sp>
      <p:sp>
        <p:nvSpPr>
          <p:cNvPr id="21" name="Text 19"/>
          <p:cNvSpPr/>
          <p:nvPr/>
        </p:nvSpPr>
        <p:spPr>
          <a:xfrm>
            <a:off x="1499616" y="4645152"/>
            <a:ext cx="3127248" cy="164592"/>
          </a:xfrm>
          <a:prstGeom prst="rect">
            <a:avLst/>
          </a:prstGeom>
          <a:noFill/>
          <a:ln/>
        </p:spPr>
        <p:txBody>
          <a:bodyPr wrap="square" lIns="0" tIns="0" rIns="0" bIns="0" rtlCol="0" anchor="ctr">
            <a:normAutofit/>
          </a:bodyPr>
          <a:lstStyle/>
          <a:p>
            <a:pPr indent="0" marL="0">
              <a:buNone/>
            </a:pPr>
            <a:r>
              <a:rPr lang="en-US" sz="900" dirty="0">
                <a:solidFill>
                  <a:srgbClr val="5B6871"/>
                </a:solidFill>
                <a:latin typeface="Arial" pitchFamily="34" charset="0"/>
                <a:ea typeface="Arial" pitchFamily="34" charset="-122"/>
                <a:cs typeface="Arial" pitchFamily="34" charset="-120"/>
              </a:rPr>
              <a:t>Kaggle  ·  October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01752"/>
            <a:ext cx="8138160" cy="393192"/>
          </a:xfrm>
          <a:prstGeom prst="rect">
            <a:avLst/>
          </a:prstGeom>
          <a:noFill/>
          <a:ln/>
        </p:spPr>
        <p:txBody>
          <a:bodyPr wrap="square" lIns="0" tIns="0" rIns="0" bIns="0" rtlCol="0" anchor="ctr">
            <a:normAutofit/>
          </a:bodyPr>
          <a:lstStyle/>
          <a:p>
            <a:pPr indent="0" marL="0">
              <a:buNone/>
            </a:pPr>
            <a:r>
              <a:rPr lang="en-US" sz="2400" b="1" dirty="0">
                <a:solidFill>
                  <a:srgbClr val="1D252B"/>
                </a:solidFill>
                <a:latin typeface="Arial" pitchFamily="34" charset="0"/>
                <a:ea typeface="Arial" pitchFamily="34" charset="-122"/>
                <a:cs typeface="Arial" pitchFamily="34" charset="-120"/>
              </a:rPr>
              <a:t>Walkthrough map</a:t>
            </a:r>
            <a:endParaRPr lang="en-US" sz="2400" dirty="0"/>
          </a:p>
        </p:txBody>
      </p:sp>
      <p:sp>
        <p:nvSpPr>
          <p:cNvPr id="3" name="Shape 1"/>
          <p:cNvSpPr/>
          <p:nvPr/>
        </p:nvSpPr>
        <p:spPr>
          <a:xfrm>
            <a:off x="502920" y="932688"/>
            <a:ext cx="8138160" cy="0"/>
          </a:xfrm>
          <a:prstGeom prst="line">
            <a:avLst/>
          </a:prstGeom>
          <a:noFill/>
          <a:ln w="27940">
            <a:solidFill>
              <a:srgbClr val="FFDF3C"/>
            </a:solidFill>
            <a:prstDash val="solid"/>
          </a:ln>
        </p:spPr>
      </p:sp>
      <p:sp>
        <p:nvSpPr>
          <p:cNvPr id="4" name="Text 2"/>
          <p:cNvSpPr/>
          <p:nvPr/>
        </p:nvSpPr>
        <p:spPr>
          <a:xfrm>
            <a:off x="521208" y="1014984"/>
            <a:ext cx="8138160" cy="274320"/>
          </a:xfrm>
          <a:prstGeom prst="rect">
            <a:avLst/>
          </a:prstGeom>
          <a:noFill/>
          <a:ln/>
        </p:spPr>
        <p:txBody>
          <a:bodyPr wrap="square" lIns="0" tIns="0" rIns="0" bIns="0" rtlCol="0" anchor="ctr">
            <a:normAutofit/>
          </a:bodyPr>
          <a:lstStyle/>
          <a:p>
            <a:pPr indent="0" marL="0">
              <a:buNone/>
            </a:pPr>
            <a:r>
              <a:rPr lang="en-US" sz="1070" dirty="0">
                <a:solidFill>
                  <a:srgbClr val="5B6871"/>
                </a:solidFill>
                <a:latin typeface="Arial" pitchFamily="34" charset="0"/>
                <a:ea typeface="Arial" pitchFamily="34" charset="-122"/>
                <a:cs typeface="Arial" pitchFamily="34" charset="-120"/>
              </a:rPr>
              <a:t>I will focus on the parts that changed the result.</a:t>
            </a:r>
            <a:endParaRPr lang="en-US" sz="1070" dirty="0"/>
          </a:p>
        </p:txBody>
      </p:sp>
      <p:sp>
        <p:nvSpPr>
          <p:cNvPr id="5" name="Text 3"/>
          <p:cNvSpPr/>
          <p:nvPr/>
        </p:nvSpPr>
        <p:spPr>
          <a:xfrm>
            <a:off x="475488" y="4800600"/>
            <a:ext cx="914400" cy="228600"/>
          </a:xfrm>
          <a:prstGeom prst="rect">
            <a:avLst/>
          </a:prstGeom>
          <a:noFill/>
          <a:ln/>
        </p:spPr>
        <p:txBody>
          <a:bodyPr wrap="square" lIns="0" tIns="0" rIns="0" bIns="0" rtlCol="0" anchor="ctr">
            <a:normAutofit/>
          </a:bodyPr>
          <a:lstStyle/>
          <a:p>
            <a:pPr indent="0" marL="0">
              <a:buNone/>
            </a:pPr>
            <a:r>
              <a:rPr lang="en-US" sz="1250" b="1" dirty="0">
                <a:solidFill>
                  <a:srgbClr val="24B6E6"/>
                </a:solidFill>
                <a:latin typeface="Arial" pitchFamily="34" charset="0"/>
                <a:ea typeface="Arial" pitchFamily="34" charset="-122"/>
                <a:cs typeface="Arial" pitchFamily="34" charset="-120"/>
              </a:rPr>
              <a:t>kaggle</a:t>
            </a:r>
            <a:endParaRPr lang="en-US" sz="1250" dirty="0"/>
          </a:p>
        </p:txBody>
      </p:sp>
      <p:sp>
        <p:nvSpPr>
          <p:cNvPr id="6" name="Text 4"/>
          <p:cNvSpPr/>
          <p:nvPr/>
        </p:nvSpPr>
        <p:spPr>
          <a:xfrm>
            <a:off x="5577840" y="4828032"/>
            <a:ext cx="2834640" cy="146304"/>
          </a:xfrm>
          <a:prstGeom prst="rect">
            <a:avLst/>
          </a:prstGeom>
          <a:noFill/>
          <a:ln/>
        </p:spPr>
        <p:txBody>
          <a:bodyPr wrap="square" lIns="0" tIns="0" rIns="0" bIns="0" rtlCol="0" anchor="ctr">
            <a:normAutofit/>
          </a:bodyPr>
          <a:lstStyle/>
          <a:p>
            <a:pPr algn="r" indent="0" marL="0">
              <a:buNone/>
            </a:pPr>
            <a:r>
              <a:rPr lang="en-US" sz="670" dirty="0">
                <a:solidFill>
                  <a:srgbClr val="89959C"/>
                </a:solidFill>
                <a:latin typeface="Arial" pitchFamily="34" charset="0"/>
                <a:ea typeface="Arial" pitchFamily="34" charset="-122"/>
                <a:cs typeface="Arial" pitchFamily="34" charset="-120"/>
              </a:rPr>
              <a:t>Giovanny Rodríguez  /  AI Agent Security</a:t>
            </a:r>
            <a:endParaRPr lang="en-US" sz="670" dirty="0"/>
          </a:p>
        </p:txBody>
      </p:sp>
      <p:sp>
        <p:nvSpPr>
          <p:cNvPr id="7" name="Text 5"/>
          <p:cNvSpPr/>
          <p:nvPr/>
        </p:nvSpPr>
        <p:spPr>
          <a:xfrm>
            <a:off x="8622792" y="4800600"/>
            <a:ext cx="155448" cy="182880"/>
          </a:xfrm>
          <a:prstGeom prst="rect">
            <a:avLst/>
          </a:prstGeom>
          <a:noFill/>
          <a:ln/>
        </p:spPr>
        <p:txBody>
          <a:bodyPr wrap="square" lIns="0" tIns="0" rIns="0" bIns="0" rtlCol="0" anchor="ctr">
            <a:normAutofit/>
          </a:bodyPr>
          <a:lstStyle/>
          <a:p>
            <a:pPr algn="r" indent="0" marL="0">
              <a:buNone/>
            </a:pPr>
            <a:r>
              <a:rPr lang="en-US" sz="820" dirty="0">
                <a:solidFill>
                  <a:srgbClr val="89959C"/>
                </a:solidFill>
                <a:latin typeface="Arial" pitchFamily="34" charset="0"/>
                <a:ea typeface="Arial" pitchFamily="34" charset="-122"/>
                <a:cs typeface="Arial" pitchFamily="34" charset="-120"/>
              </a:rPr>
              <a:t>2</a:t>
            </a:r>
            <a:endParaRPr lang="en-US" sz="820" dirty="0"/>
          </a:p>
        </p:txBody>
      </p:sp>
      <p:sp>
        <p:nvSpPr>
          <p:cNvPr id="8" name="Shape 6"/>
          <p:cNvSpPr/>
          <p:nvPr/>
        </p:nvSpPr>
        <p:spPr>
          <a:xfrm>
            <a:off x="502920" y="1527048"/>
            <a:ext cx="1563624" cy="1938528"/>
          </a:xfrm>
          <a:prstGeom prst="roundRect">
            <a:avLst>
              <a:gd name="adj" fmla="val 5263"/>
            </a:avLst>
          </a:prstGeom>
          <a:solidFill>
            <a:srgbClr val="F1F9FC"/>
          </a:solidFill>
          <a:ln w="8890">
            <a:solidFill>
              <a:srgbClr val="DFE5E9"/>
            </a:solidFill>
            <a:prstDash val="solid"/>
          </a:ln>
        </p:spPr>
      </p:sp>
      <p:sp>
        <p:nvSpPr>
          <p:cNvPr id="9" name="Shape 7"/>
          <p:cNvSpPr/>
          <p:nvPr/>
        </p:nvSpPr>
        <p:spPr>
          <a:xfrm>
            <a:off x="649224" y="1719072"/>
            <a:ext cx="356616" cy="356616"/>
          </a:xfrm>
          <a:prstGeom prst="ellipse">
            <a:avLst/>
          </a:prstGeom>
          <a:solidFill>
            <a:srgbClr val="24B6E6"/>
          </a:solidFill>
          <a:ln w="12700">
            <a:solidFill>
              <a:srgbClr val="24B6E6"/>
            </a:solidFill>
            <a:prstDash val="solid"/>
          </a:ln>
        </p:spPr>
      </p:sp>
      <p:sp>
        <p:nvSpPr>
          <p:cNvPr id="10" name="Text 8"/>
          <p:cNvSpPr/>
          <p:nvPr/>
        </p:nvSpPr>
        <p:spPr>
          <a:xfrm>
            <a:off x="649224" y="1755648"/>
            <a:ext cx="356616" cy="228600"/>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rial" pitchFamily="34" charset="0"/>
                <a:ea typeface="Arial" pitchFamily="34" charset="-122"/>
                <a:cs typeface="Arial" pitchFamily="34" charset="-120"/>
              </a:rPr>
              <a:t>1</a:t>
            </a:r>
            <a:endParaRPr lang="en-US" sz="1320" dirty="0"/>
          </a:p>
        </p:txBody>
      </p:sp>
      <p:sp>
        <p:nvSpPr>
          <p:cNvPr id="11" name="Text 9"/>
          <p:cNvSpPr/>
          <p:nvPr/>
        </p:nvSpPr>
        <p:spPr>
          <a:xfrm>
            <a:off x="640080" y="2276856"/>
            <a:ext cx="1289304" cy="283464"/>
          </a:xfrm>
          <a:prstGeom prst="rect">
            <a:avLst/>
          </a:prstGeom>
          <a:noFill/>
          <a:ln/>
        </p:spPr>
        <p:txBody>
          <a:bodyPr wrap="square" lIns="0" tIns="0" rIns="0" bIns="0" rtlCol="0" anchor="ctr">
            <a:normAutofit/>
          </a:bodyPr>
          <a:lstStyle/>
          <a:p>
            <a:pPr indent="0" marL="0">
              <a:buNone/>
            </a:pPr>
            <a:r>
              <a:rPr lang="en-US" sz="1500" b="1" dirty="0">
                <a:solidFill>
                  <a:srgbClr val="1D252B"/>
                </a:solidFill>
                <a:latin typeface="Arial" pitchFamily="34" charset="0"/>
                <a:ea typeface="Arial" pitchFamily="34" charset="-122"/>
                <a:cs typeface="Arial" pitchFamily="34" charset="-120"/>
              </a:rPr>
              <a:t>Bottleneck</a:t>
            </a:r>
            <a:endParaRPr lang="en-US" sz="1500" dirty="0"/>
          </a:p>
        </p:txBody>
      </p:sp>
      <p:sp>
        <p:nvSpPr>
          <p:cNvPr id="12" name="Shape 10"/>
          <p:cNvSpPr/>
          <p:nvPr/>
        </p:nvSpPr>
        <p:spPr>
          <a:xfrm>
            <a:off x="640080" y="2679192"/>
            <a:ext cx="1289304" cy="0"/>
          </a:xfrm>
          <a:prstGeom prst="line">
            <a:avLst/>
          </a:prstGeom>
          <a:noFill/>
          <a:ln w="24130">
            <a:solidFill>
              <a:srgbClr val="FFDF3C"/>
            </a:solidFill>
            <a:prstDash val="solid"/>
          </a:ln>
        </p:spPr>
      </p:sp>
      <p:sp>
        <p:nvSpPr>
          <p:cNvPr id="13" name="Text 11"/>
          <p:cNvSpPr/>
          <p:nvPr/>
        </p:nvSpPr>
        <p:spPr>
          <a:xfrm>
            <a:off x="640080" y="2816352"/>
            <a:ext cx="1289304" cy="448056"/>
          </a:xfrm>
          <a:prstGeom prst="rect">
            <a:avLst/>
          </a:prstGeom>
          <a:noFill/>
          <a:ln/>
        </p:spPr>
        <p:txBody>
          <a:bodyPr wrap="square" lIns="0" tIns="0" rIns="0" bIns="0" rtlCol="0" anchor="t">
            <a:normAutofit/>
          </a:bodyPr>
          <a:lstStyle/>
          <a:p>
            <a:pPr indent="0" marL="0">
              <a:buNone/>
            </a:pPr>
            <a:r>
              <a:rPr lang="en-US" sz="1110" dirty="0">
                <a:solidFill>
                  <a:srgbClr val="5B6871"/>
                </a:solidFill>
                <a:latin typeface="Arial" pitchFamily="34" charset="0"/>
                <a:ea typeface="Arial" pitchFamily="34" charset="-122"/>
                <a:cs typeface="Arial" pitchFamily="34" charset="-120"/>
              </a:rPr>
              <a:t>Replay time, not only attack success</a:t>
            </a:r>
            <a:endParaRPr lang="en-US" sz="1110" dirty="0"/>
          </a:p>
        </p:txBody>
      </p:sp>
      <p:sp>
        <p:nvSpPr>
          <p:cNvPr id="14" name="Shape 12"/>
          <p:cNvSpPr/>
          <p:nvPr/>
        </p:nvSpPr>
        <p:spPr>
          <a:xfrm>
            <a:off x="2176272" y="1527048"/>
            <a:ext cx="1563624" cy="1938528"/>
          </a:xfrm>
          <a:prstGeom prst="roundRect">
            <a:avLst>
              <a:gd name="adj" fmla="val 5263"/>
            </a:avLst>
          </a:prstGeom>
          <a:solidFill>
            <a:srgbClr val="F7FAFB"/>
          </a:solidFill>
          <a:ln w="8890">
            <a:solidFill>
              <a:srgbClr val="DFE5E9"/>
            </a:solidFill>
            <a:prstDash val="solid"/>
          </a:ln>
        </p:spPr>
      </p:sp>
      <p:sp>
        <p:nvSpPr>
          <p:cNvPr id="15" name="Shape 13"/>
          <p:cNvSpPr/>
          <p:nvPr/>
        </p:nvSpPr>
        <p:spPr>
          <a:xfrm>
            <a:off x="2322576" y="1719072"/>
            <a:ext cx="356616" cy="356616"/>
          </a:xfrm>
          <a:prstGeom prst="ellipse">
            <a:avLst/>
          </a:prstGeom>
          <a:solidFill>
            <a:srgbClr val="24B6E6"/>
          </a:solidFill>
          <a:ln w="12700">
            <a:solidFill>
              <a:srgbClr val="24B6E6"/>
            </a:solidFill>
            <a:prstDash val="solid"/>
          </a:ln>
        </p:spPr>
      </p:sp>
      <p:sp>
        <p:nvSpPr>
          <p:cNvPr id="16" name="Text 14"/>
          <p:cNvSpPr/>
          <p:nvPr/>
        </p:nvSpPr>
        <p:spPr>
          <a:xfrm>
            <a:off x="2322576" y="1755648"/>
            <a:ext cx="356616" cy="228600"/>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rial" pitchFamily="34" charset="0"/>
                <a:ea typeface="Arial" pitchFamily="34" charset="-122"/>
                <a:cs typeface="Arial" pitchFamily="34" charset="-120"/>
              </a:rPr>
              <a:t>2</a:t>
            </a:r>
            <a:endParaRPr lang="en-US" sz="1320" dirty="0"/>
          </a:p>
        </p:txBody>
      </p:sp>
      <p:sp>
        <p:nvSpPr>
          <p:cNvPr id="17" name="Text 15"/>
          <p:cNvSpPr/>
          <p:nvPr/>
        </p:nvSpPr>
        <p:spPr>
          <a:xfrm>
            <a:off x="2313432" y="2276856"/>
            <a:ext cx="1289304" cy="283464"/>
          </a:xfrm>
          <a:prstGeom prst="rect">
            <a:avLst/>
          </a:prstGeom>
          <a:noFill/>
          <a:ln/>
        </p:spPr>
        <p:txBody>
          <a:bodyPr wrap="square" lIns="0" tIns="0" rIns="0" bIns="0" rtlCol="0" anchor="ctr">
            <a:normAutofit/>
          </a:bodyPr>
          <a:lstStyle/>
          <a:p>
            <a:pPr indent="0" marL="0">
              <a:buNone/>
            </a:pPr>
            <a:r>
              <a:rPr lang="en-US" sz="1500" b="1" dirty="0">
                <a:solidFill>
                  <a:srgbClr val="1D252B"/>
                </a:solidFill>
                <a:latin typeface="Arial" pitchFamily="34" charset="0"/>
                <a:ea typeface="Arial" pitchFamily="34" charset="-122"/>
                <a:cs typeface="Arial" pitchFamily="34" charset="-120"/>
              </a:rPr>
              <a:t>GPT-OSS</a:t>
            </a:r>
            <a:endParaRPr lang="en-US" sz="1500" dirty="0"/>
          </a:p>
        </p:txBody>
      </p:sp>
      <p:sp>
        <p:nvSpPr>
          <p:cNvPr id="18" name="Shape 16"/>
          <p:cNvSpPr/>
          <p:nvPr/>
        </p:nvSpPr>
        <p:spPr>
          <a:xfrm>
            <a:off x="2313432" y="2679192"/>
            <a:ext cx="1289304" cy="0"/>
          </a:xfrm>
          <a:prstGeom prst="line">
            <a:avLst/>
          </a:prstGeom>
          <a:noFill/>
          <a:ln w="24130">
            <a:solidFill>
              <a:srgbClr val="FFDF3C"/>
            </a:solidFill>
            <a:prstDash val="solid"/>
          </a:ln>
        </p:spPr>
      </p:sp>
      <p:sp>
        <p:nvSpPr>
          <p:cNvPr id="19" name="Text 17"/>
          <p:cNvSpPr/>
          <p:nvPr/>
        </p:nvSpPr>
        <p:spPr>
          <a:xfrm>
            <a:off x="2313432" y="2816352"/>
            <a:ext cx="1289304" cy="448056"/>
          </a:xfrm>
          <a:prstGeom prst="rect">
            <a:avLst/>
          </a:prstGeom>
          <a:noFill/>
          <a:ln/>
        </p:spPr>
        <p:txBody>
          <a:bodyPr wrap="square" lIns="0" tIns="0" rIns="0" bIns="0" rtlCol="0" anchor="t">
            <a:normAutofit/>
          </a:bodyPr>
          <a:lstStyle/>
          <a:p>
            <a:pPr indent="0" marL="0">
              <a:buNone/>
            </a:pPr>
            <a:r>
              <a:rPr lang="en-US" sz="1110" dirty="0">
                <a:solidFill>
                  <a:srgbClr val="5B6871"/>
                </a:solidFill>
                <a:latin typeface="Arial" pitchFamily="34" charset="0"/>
                <a:ea typeface="Arial" pitchFamily="34" charset="-122"/>
                <a:cs typeface="Arial" pitchFamily="34" charset="-120"/>
              </a:rPr>
              <a:t>Harmony-state alignment</a:t>
            </a:r>
            <a:endParaRPr lang="en-US" sz="1110" dirty="0"/>
          </a:p>
        </p:txBody>
      </p:sp>
      <p:sp>
        <p:nvSpPr>
          <p:cNvPr id="20" name="Shape 18"/>
          <p:cNvSpPr/>
          <p:nvPr/>
        </p:nvSpPr>
        <p:spPr>
          <a:xfrm>
            <a:off x="3849624" y="1527048"/>
            <a:ext cx="1563624" cy="1938528"/>
          </a:xfrm>
          <a:prstGeom prst="roundRect">
            <a:avLst>
              <a:gd name="adj" fmla="val 5263"/>
            </a:avLst>
          </a:prstGeom>
          <a:solidFill>
            <a:srgbClr val="F1F9FC"/>
          </a:solidFill>
          <a:ln w="8890">
            <a:solidFill>
              <a:srgbClr val="DFE5E9"/>
            </a:solidFill>
            <a:prstDash val="solid"/>
          </a:ln>
        </p:spPr>
      </p:sp>
      <p:sp>
        <p:nvSpPr>
          <p:cNvPr id="21" name="Shape 19"/>
          <p:cNvSpPr/>
          <p:nvPr/>
        </p:nvSpPr>
        <p:spPr>
          <a:xfrm>
            <a:off x="3995928" y="1719072"/>
            <a:ext cx="356616" cy="356616"/>
          </a:xfrm>
          <a:prstGeom prst="ellipse">
            <a:avLst/>
          </a:prstGeom>
          <a:solidFill>
            <a:srgbClr val="24B6E6"/>
          </a:solidFill>
          <a:ln w="12700">
            <a:solidFill>
              <a:srgbClr val="24B6E6"/>
            </a:solidFill>
            <a:prstDash val="solid"/>
          </a:ln>
        </p:spPr>
      </p:sp>
      <p:sp>
        <p:nvSpPr>
          <p:cNvPr id="22" name="Text 20"/>
          <p:cNvSpPr/>
          <p:nvPr/>
        </p:nvSpPr>
        <p:spPr>
          <a:xfrm>
            <a:off x="3995928" y="1755648"/>
            <a:ext cx="356616" cy="228600"/>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rial" pitchFamily="34" charset="0"/>
                <a:ea typeface="Arial" pitchFamily="34" charset="-122"/>
                <a:cs typeface="Arial" pitchFamily="34" charset="-120"/>
              </a:rPr>
              <a:t>3</a:t>
            </a:r>
            <a:endParaRPr lang="en-US" sz="1320" dirty="0"/>
          </a:p>
        </p:txBody>
      </p:sp>
      <p:sp>
        <p:nvSpPr>
          <p:cNvPr id="23" name="Text 21"/>
          <p:cNvSpPr/>
          <p:nvPr/>
        </p:nvSpPr>
        <p:spPr>
          <a:xfrm>
            <a:off x="3986784" y="2276856"/>
            <a:ext cx="1289304" cy="283464"/>
          </a:xfrm>
          <a:prstGeom prst="rect">
            <a:avLst/>
          </a:prstGeom>
          <a:noFill/>
          <a:ln/>
        </p:spPr>
        <p:txBody>
          <a:bodyPr wrap="square" lIns="0" tIns="0" rIns="0" bIns="0" rtlCol="0" anchor="ctr">
            <a:normAutofit/>
          </a:bodyPr>
          <a:lstStyle/>
          <a:p>
            <a:pPr indent="0" marL="0">
              <a:buNone/>
            </a:pPr>
            <a:r>
              <a:rPr lang="en-US" sz="1500" b="1" dirty="0">
                <a:solidFill>
                  <a:srgbClr val="1D252B"/>
                </a:solidFill>
                <a:latin typeface="Arial" pitchFamily="34" charset="0"/>
                <a:ea typeface="Arial" pitchFamily="34" charset="-122"/>
                <a:cs typeface="Arial" pitchFamily="34" charset="-120"/>
              </a:rPr>
              <a:t>Gemma</a:t>
            </a:r>
            <a:endParaRPr lang="en-US" sz="1500" dirty="0"/>
          </a:p>
        </p:txBody>
      </p:sp>
      <p:sp>
        <p:nvSpPr>
          <p:cNvPr id="24" name="Shape 22"/>
          <p:cNvSpPr/>
          <p:nvPr/>
        </p:nvSpPr>
        <p:spPr>
          <a:xfrm>
            <a:off x="3986784" y="2679192"/>
            <a:ext cx="1289304" cy="0"/>
          </a:xfrm>
          <a:prstGeom prst="line">
            <a:avLst/>
          </a:prstGeom>
          <a:noFill/>
          <a:ln w="24130">
            <a:solidFill>
              <a:srgbClr val="FFDF3C"/>
            </a:solidFill>
            <a:prstDash val="solid"/>
          </a:ln>
        </p:spPr>
      </p:sp>
      <p:sp>
        <p:nvSpPr>
          <p:cNvPr id="25" name="Text 23"/>
          <p:cNvSpPr/>
          <p:nvPr/>
        </p:nvSpPr>
        <p:spPr>
          <a:xfrm>
            <a:off x="3986784" y="2816352"/>
            <a:ext cx="1289304" cy="448056"/>
          </a:xfrm>
          <a:prstGeom prst="rect">
            <a:avLst/>
          </a:prstGeom>
          <a:noFill/>
          <a:ln/>
        </p:spPr>
        <p:txBody>
          <a:bodyPr wrap="square" lIns="0" tIns="0" rIns="0" bIns="0" rtlCol="0" anchor="t">
            <a:normAutofit/>
          </a:bodyPr>
          <a:lstStyle/>
          <a:p>
            <a:pPr indent="0" marL="0">
              <a:buNone/>
            </a:pPr>
            <a:r>
              <a:rPr lang="en-US" sz="1110" dirty="0">
                <a:solidFill>
                  <a:srgbClr val="5B6871"/>
                </a:solidFill>
                <a:latin typeface="Arial" pitchFamily="34" charset="0"/>
                <a:ea typeface="Arial" pitchFamily="34" charset="-122"/>
                <a:cs typeface="Arial" pitchFamily="34" charset="-120"/>
              </a:rPr>
              <a:t>Output policy and serialization</a:t>
            </a:r>
            <a:endParaRPr lang="en-US" sz="1110" dirty="0"/>
          </a:p>
        </p:txBody>
      </p:sp>
      <p:sp>
        <p:nvSpPr>
          <p:cNvPr id="26" name="Shape 24"/>
          <p:cNvSpPr/>
          <p:nvPr/>
        </p:nvSpPr>
        <p:spPr>
          <a:xfrm>
            <a:off x="5522976" y="1527048"/>
            <a:ext cx="1563624" cy="1938528"/>
          </a:xfrm>
          <a:prstGeom prst="roundRect">
            <a:avLst>
              <a:gd name="adj" fmla="val 5263"/>
            </a:avLst>
          </a:prstGeom>
          <a:solidFill>
            <a:srgbClr val="F7FAFB"/>
          </a:solidFill>
          <a:ln w="8890">
            <a:solidFill>
              <a:srgbClr val="DFE5E9"/>
            </a:solidFill>
            <a:prstDash val="solid"/>
          </a:ln>
        </p:spPr>
      </p:sp>
      <p:sp>
        <p:nvSpPr>
          <p:cNvPr id="27" name="Shape 25"/>
          <p:cNvSpPr/>
          <p:nvPr/>
        </p:nvSpPr>
        <p:spPr>
          <a:xfrm>
            <a:off x="5669280" y="1719072"/>
            <a:ext cx="356616" cy="356616"/>
          </a:xfrm>
          <a:prstGeom prst="ellipse">
            <a:avLst/>
          </a:prstGeom>
          <a:solidFill>
            <a:srgbClr val="24B6E6"/>
          </a:solidFill>
          <a:ln w="12700">
            <a:solidFill>
              <a:srgbClr val="24B6E6"/>
            </a:solidFill>
            <a:prstDash val="solid"/>
          </a:ln>
        </p:spPr>
      </p:sp>
      <p:sp>
        <p:nvSpPr>
          <p:cNvPr id="28" name="Text 26"/>
          <p:cNvSpPr/>
          <p:nvPr/>
        </p:nvSpPr>
        <p:spPr>
          <a:xfrm>
            <a:off x="5669280" y="1755648"/>
            <a:ext cx="356616" cy="228600"/>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rial" pitchFamily="34" charset="0"/>
                <a:ea typeface="Arial" pitchFamily="34" charset="-122"/>
                <a:cs typeface="Arial" pitchFamily="34" charset="-120"/>
              </a:rPr>
              <a:t>4</a:t>
            </a:r>
            <a:endParaRPr lang="en-US" sz="1320" dirty="0"/>
          </a:p>
        </p:txBody>
      </p:sp>
      <p:sp>
        <p:nvSpPr>
          <p:cNvPr id="29" name="Text 27"/>
          <p:cNvSpPr/>
          <p:nvPr/>
        </p:nvSpPr>
        <p:spPr>
          <a:xfrm>
            <a:off x="5660136" y="2276856"/>
            <a:ext cx="1289304" cy="283464"/>
          </a:xfrm>
          <a:prstGeom prst="rect">
            <a:avLst/>
          </a:prstGeom>
          <a:noFill/>
          <a:ln/>
        </p:spPr>
        <p:txBody>
          <a:bodyPr wrap="square" lIns="0" tIns="0" rIns="0" bIns="0" rtlCol="0" anchor="ctr">
            <a:normAutofit/>
          </a:bodyPr>
          <a:lstStyle/>
          <a:p>
            <a:pPr indent="0" marL="0">
              <a:buNone/>
            </a:pPr>
            <a:r>
              <a:rPr lang="en-US" sz="1500" b="1" dirty="0">
                <a:solidFill>
                  <a:srgbClr val="1D252B"/>
                </a:solidFill>
                <a:latin typeface="Arial" pitchFamily="34" charset="0"/>
                <a:ea typeface="Arial" pitchFamily="34" charset="-122"/>
                <a:cs typeface="Arial" pitchFamily="34" charset="-120"/>
              </a:rPr>
              <a:t>Search method</a:t>
            </a:r>
            <a:endParaRPr lang="en-US" sz="1500" dirty="0"/>
          </a:p>
        </p:txBody>
      </p:sp>
      <p:sp>
        <p:nvSpPr>
          <p:cNvPr id="30" name="Shape 28"/>
          <p:cNvSpPr/>
          <p:nvPr/>
        </p:nvSpPr>
        <p:spPr>
          <a:xfrm>
            <a:off x="5660136" y="2679192"/>
            <a:ext cx="1289304" cy="0"/>
          </a:xfrm>
          <a:prstGeom prst="line">
            <a:avLst/>
          </a:prstGeom>
          <a:noFill/>
          <a:ln w="24130">
            <a:solidFill>
              <a:srgbClr val="FFDF3C"/>
            </a:solidFill>
            <a:prstDash val="solid"/>
          </a:ln>
        </p:spPr>
      </p:sp>
      <p:sp>
        <p:nvSpPr>
          <p:cNvPr id="31" name="Text 29"/>
          <p:cNvSpPr/>
          <p:nvPr/>
        </p:nvSpPr>
        <p:spPr>
          <a:xfrm>
            <a:off x="5660136" y="2816352"/>
            <a:ext cx="1289304" cy="448056"/>
          </a:xfrm>
          <a:prstGeom prst="rect">
            <a:avLst/>
          </a:prstGeom>
          <a:noFill/>
          <a:ln/>
        </p:spPr>
        <p:txBody>
          <a:bodyPr wrap="square" lIns="0" tIns="0" rIns="0" bIns="0" rtlCol="0" anchor="t">
            <a:normAutofit/>
          </a:bodyPr>
          <a:lstStyle/>
          <a:p>
            <a:pPr indent="0" marL="0">
              <a:buNone/>
            </a:pPr>
            <a:r>
              <a:rPr lang="en-US" sz="1110" dirty="0">
                <a:solidFill>
                  <a:srgbClr val="5B6871"/>
                </a:solidFill>
                <a:latin typeface="Arial" pitchFamily="34" charset="0"/>
                <a:ea typeface="Arial" pitchFamily="34" charset="-122"/>
                <a:cs typeface="Arial" pitchFamily="34" charset="-120"/>
              </a:rPr>
              <a:t>200-candidate replay checks</a:t>
            </a:r>
            <a:endParaRPr lang="en-US" sz="1110" dirty="0"/>
          </a:p>
        </p:txBody>
      </p:sp>
      <p:sp>
        <p:nvSpPr>
          <p:cNvPr id="32" name="Shape 30"/>
          <p:cNvSpPr/>
          <p:nvPr/>
        </p:nvSpPr>
        <p:spPr>
          <a:xfrm>
            <a:off x="7196328" y="1527048"/>
            <a:ext cx="1563624" cy="1938528"/>
          </a:xfrm>
          <a:prstGeom prst="roundRect">
            <a:avLst>
              <a:gd name="adj" fmla="val 5263"/>
            </a:avLst>
          </a:prstGeom>
          <a:solidFill>
            <a:srgbClr val="F1F9FC"/>
          </a:solidFill>
          <a:ln w="8890">
            <a:solidFill>
              <a:srgbClr val="DFE5E9"/>
            </a:solidFill>
            <a:prstDash val="solid"/>
          </a:ln>
        </p:spPr>
      </p:sp>
      <p:sp>
        <p:nvSpPr>
          <p:cNvPr id="33" name="Shape 31"/>
          <p:cNvSpPr/>
          <p:nvPr/>
        </p:nvSpPr>
        <p:spPr>
          <a:xfrm>
            <a:off x="7342632" y="1719072"/>
            <a:ext cx="356616" cy="356616"/>
          </a:xfrm>
          <a:prstGeom prst="ellipse">
            <a:avLst/>
          </a:prstGeom>
          <a:solidFill>
            <a:srgbClr val="25A94D"/>
          </a:solidFill>
          <a:ln w="12700">
            <a:solidFill>
              <a:srgbClr val="25A94D"/>
            </a:solidFill>
            <a:prstDash val="solid"/>
          </a:ln>
        </p:spPr>
      </p:sp>
      <p:sp>
        <p:nvSpPr>
          <p:cNvPr id="34" name="Text 32"/>
          <p:cNvSpPr/>
          <p:nvPr/>
        </p:nvSpPr>
        <p:spPr>
          <a:xfrm>
            <a:off x="7342632" y="1755648"/>
            <a:ext cx="356616" cy="228600"/>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rial" pitchFamily="34" charset="0"/>
                <a:ea typeface="Arial" pitchFamily="34" charset="-122"/>
                <a:cs typeface="Arial" pitchFamily="34" charset="-120"/>
              </a:rPr>
              <a:t>5</a:t>
            </a:r>
            <a:endParaRPr lang="en-US" sz="1320" dirty="0"/>
          </a:p>
        </p:txBody>
      </p:sp>
      <p:sp>
        <p:nvSpPr>
          <p:cNvPr id="35" name="Text 33"/>
          <p:cNvSpPr/>
          <p:nvPr/>
        </p:nvSpPr>
        <p:spPr>
          <a:xfrm>
            <a:off x="7333488" y="2276856"/>
            <a:ext cx="1289304" cy="283464"/>
          </a:xfrm>
          <a:prstGeom prst="rect">
            <a:avLst/>
          </a:prstGeom>
          <a:noFill/>
          <a:ln/>
        </p:spPr>
        <p:txBody>
          <a:bodyPr wrap="square" lIns="0" tIns="0" rIns="0" bIns="0" rtlCol="0" anchor="ctr">
            <a:normAutofit/>
          </a:bodyPr>
          <a:lstStyle/>
          <a:p>
            <a:pPr indent="0" marL="0">
              <a:buNone/>
            </a:pPr>
            <a:r>
              <a:rPr lang="en-US" sz="1500" b="1" dirty="0">
                <a:solidFill>
                  <a:srgbClr val="1D252B"/>
                </a:solidFill>
                <a:latin typeface="Arial" pitchFamily="34" charset="0"/>
                <a:ea typeface="Arial" pitchFamily="34" charset="-122"/>
                <a:cs typeface="Arial" pitchFamily="34" charset="-120"/>
              </a:rPr>
              <a:t>Final path</a:t>
            </a:r>
            <a:endParaRPr lang="en-US" sz="1500" dirty="0"/>
          </a:p>
        </p:txBody>
      </p:sp>
      <p:sp>
        <p:nvSpPr>
          <p:cNvPr id="36" name="Shape 34"/>
          <p:cNvSpPr/>
          <p:nvPr/>
        </p:nvSpPr>
        <p:spPr>
          <a:xfrm>
            <a:off x="7333488" y="2679192"/>
            <a:ext cx="1289304" cy="0"/>
          </a:xfrm>
          <a:prstGeom prst="line">
            <a:avLst/>
          </a:prstGeom>
          <a:noFill/>
          <a:ln w="24130">
            <a:solidFill>
              <a:srgbClr val="FFDF3C"/>
            </a:solidFill>
            <a:prstDash val="solid"/>
          </a:ln>
        </p:spPr>
      </p:sp>
      <p:sp>
        <p:nvSpPr>
          <p:cNvPr id="37" name="Text 35"/>
          <p:cNvSpPr/>
          <p:nvPr/>
        </p:nvSpPr>
        <p:spPr>
          <a:xfrm>
            <a:off x="7333488" y="2816352"/>
            <a:ext cx="1289304" cy="448056"/>
          </a:xfrm>
          <a:prstGeom prst="rect">
            <a:avLst/>
          </a:prstGeom>
          <a:noFill/>
          <a:ln/>
        </p:spPr>
        <p:txBody>
          <a:bodyPr wrap="square" lIns="0" tIns="0" rIns="0" bIns="0" rtlCol="0" anchor="t">
            <a:normAutofit/>
          </a:bodyPr>
          <a:lstStyle/>
          <a:p>
            <a:pPr indent="0" marL="0">
              <a:buNone/>
            </a:pPr>
            <a:r>
              <a:rPr lang="en-US" sz="1110" dirty="0">
                <a:solidFill>
                  <a:srgbClr val="5B6871"/>
                </a:solidFill>
                <a:latin typeface="Arial" pitchFamily="34" charset="0"/>
                <a:ea typeface="Arial" pitchFamily="34" charset="-122"/>
                <a:cs typeface="Arial" pitchFamily="34" charset="-120"/>
              </a:rPr>
              <a:t>HTTP testbed → email family</a:t>
            </a:r>
            <a:endParaRPr lang="en-US" sz="1110" dirty="0"/>
          </a:p>
        </p:txBody>
      </p:sp>
      <p:sp>
        <p:nvSpPr>
          <p:cNvPr id="38" name="Shape 36"/>
          <p:cNvSpPr/>
          <p:nvPr/>
        </p:nvSpPr>
        <p:spPr>
          <a:xfrm>
            <a:off x="594360" y="3840480"/>
            <a:ext cx="7964424" cy="621792"/>
          </a:xfrm>
          <a:prstGeom prst="roundRect">
            <a:avLst>
              <a:gd name="adj" fmla="val 13235"/>
            </a:avLst>
          </a:prstGeom>
          <a:solidFill>
            <a:srgbClr val="EFF9FC"/>
          </a:solidFill>
          <a:ln w="12700">
            <a:solidFill>
              <a:srgbClr val="EFF9FC"/>
            </a:solidFill>
            <a:prstDash val="solid"/>
          </a:ln>
        </p:spPr>
      </p:sp>
      <p:sp>
        <p:nvSpPr>
          <p:cNvPr id="39" name="Text 37"/>
          <p:cNvSpPr/>
          <p:nvPr/>
        </p:nvSpPr>
        <p:spPr>
          <a:xfrm>
            <a:off x="804672" y="3931920"/>
            <a:ext cx="2103120" cy="155448"/>
          </a:xfrm>
          <a:prstGeom prst="rect">
            <a:avLst/>
          </a:prstGeom>
          <a:noFill/>
          <a:ln/>
        </p:spPr>
        <p:txBody>
          <a:bodyPr wrap="square" lIns="0" tIns="0" rIns="0" bIns="0" rtlCol="0" anchor="ctr">
            <a:normAutofit/>
          </a:bodyPr>
          <a:lstStyle/>
          <a:p>
            <a:pPr indent="0" marL="0">
              <a:buNone/>
            </a:pPr>
            <a:r>
              <a:rPr lang="en-US" sz="860" b="1" dirty="0">
                <a:solidFill>
                  <a:srgbClr val="106E90"/>
                </a:solidFill>
                <a:latin typeface="Arial" pitchFamily="34" charset="0"/>
                <a:ea typeface="Arial" pitchFamily="34" charset="-122"/>
                <a:cs typeface="Arial" pitchFamily="34" charset="-120"/>
              </a:rPr>
              <a:t>KEY SENTENCE TO REMEMBER</a:t>
            </a:r>
            <a:endParaRPr lang="en-US" sz="860" dirty="0"/>
          </a:p>
        </p:txBody>
      </p:sp>
      <p:sp>
        <p:nvSpPr>
          <p:cNvPr id="40" name="Text 38"/>
          <p:cNvSpPr/>
          <p:nvPr/>
        </p:nvSpPr>
        <p:spPr>
          <a:xfrm>
            <a:off x="804672" y="4151376"/>
            <a:ext cx="7406640" cy="164592"/>
          </a:xfrm>
          <a:prstGeom prst="rect">
            <a:avLst/>
          </a:prstGeom>
          <a:noFill/>
          <a:ln/>
        </p:spPr>
        <p:txBody>
          <a:bodyPr wrap="square" lIns="0" tIns="0" rIns="0" bIns="0" rtlCol="0" anchor="ctr">
            <a:normAutofit/>
          </a:bodyPr>
          <a:lstStyle/>
          <a:p>
            <a:pPr indent="0" marL="0">
              <a:buNone/>
            </a:pPr>
            <a:r>
              <a:rPr lang="en-US" sz="1390" b="1" dirty="0">
                <a:solidFill>
                  <a:srgbClr val="1D252B"/>
                </a:solidFill>
                <a:latin typeface="Arial" pitchFamily="34" charset="0"/>
                <a:ea typeface="Arial" pitchFamily="34" charset="-122"/>
                <a:cs typeface="Arial" pitchFamily="34" charset="-120"/>
              </a:rPr>
              <a:t>The optimization unit was the complete trajectory, not just the tool call.</a:t>
            </a:r>
            <a:endParaRPr lang="en-US" sz="139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01752"/>
            <a:ext cx="8138160" cy="393192"/>
          </a:xfrm>
          <a:prstGeom prst="rect">
            <a:avLst/>
          </a:prstGeom>
          <a:noFill/>
          <a:ln/>
        </p:spPr>
        <p:txBody>
          <a:bodyPr wrap="square" lIns="0" tIns="0" rIns="0" bIns="0" rtlCol="0" anchor="ctr">
            <a:normAutofit/>
          </a:bodyPr>
          <a:lstStyle/>
          <a:p>
            <a:pPr indent="0" marL="0">
              <a:buNone/>
            </a:pPr>
            <a:r>
              <a:rPr lang="en-US" sz="2400" b="1" dirty="0">
                <a:solidFill>
                  <a:srgbClr val="1D252B"/>
                </a:solidFill>
                <a:latin typeface="Arial" pitchFamily="34" charset="0"/>
                <a:ea typeface="Arial" pitchFamily="34" charset="-122"/>
                <a:cs typeface="Arial" pitchFamily="34" charset="-120"/>
              </a:rPr>
              <a:t>Finding the real bottleneck</a:t>
            </a:r>
            <a:endParaRPr lang="en-US" sz="2400" dirty="0"/>
          </a:p>
        </p:txBody>
      </p:sp>
      <p:sp>
        <p:nvSpPr>
          <p:cNvPr id="3" name="Shape 1"/>
          <p:cNvSpPr/>
          <p:nvPr/>
        </p:nvSpPr>
        <p:spPr>
          <a:xfrm>
            <a:off x="502920" y="932688"/>
            <a:ext cx="8138160" cy="0"/>
          </a:xfrm>
          <a:prstGeom prst="line">
            <a:avLst/>
          </a:prstGeom>
          <a:noFill/>
          <a:ln w="27940">
            <a:solidFill>
              <a:srgbClr val="FFDF3C"/>
            </a:solidFill>
            <a:prstDash val="solid"/>
          </a:ln>
        </p:spPr>
      </p:sp>
      <p:sp>
        <p:nvSpPr>
          <p:cNvPr id="4" name="Text 2"/>
          <p:cNvSpPr/>
          <p:nvPr/>
        </p:nvSpPr>
        <p:spPr>
          <a:xfrm>
            <a:off x="521208" y="1014984"/>
            <a:ext cx="8138160" cy="274320"/>
          </a:xfrm>
          <a:prstGeom prst="rect">
            <a:avLst/>
          </a:prstGeom>
          <a:noFill/>
          <a:ln/>
        </p:spPr>
        <p:txBody>
          <a:bodyPr wrap="square" lIns="0" tIns="0" rIns="0" bIns="0" rtlCol="0" anchor="ctr">
            <a:normAutofit/>
          </a:bodyPr>
          <a:lstStyle/>
          <a:p>
            <a:pPr indent="0" marL="0">
              <a:buNone/>
            </a:pPr>
            <a:r>
              <a:rPr lang="en-US" sz="1070" dirty="0">
                <a:solidFill>
                  <a:srgbClr val="5B6871"/>
                </a:solidFill>
                <a:latin typeface="Arial" pitchFamily="34" charset="0"/>
                <a:ea typeface="Arial" pitchFamily="34" charset="-122"/>
                <a:cs typeface="Arial" pitchFamily="34" charset="-120"/>
              </a:rPr>
              <a:t>A successful tool call did not end the replay.</a:t>
            </a:r>
            <a:endParaRPr lang="en-US" sz="1070" dirty="0"/>
          </a:p>
        </p:txBody>
      </p:sp>
      <p:sp>
        <p:nvSpPr>
          <p:cNvPr id="5" name="Text 3"/>
          <p:cNvSpPr/>
          <p:nvPr/>
        </p:nvSpPr>
        <p:spPr>
          <a:xfrm>
            <a:off x="475488" y="4800600"/>
            <a:ext cx="914400" cy="228600"/>
          </a:xfrm>
          <a:prstGeom prst="rect">
            <a:avLst/>
          </a:prstGeom>
          <a:noFill/>
          <a:ln/>
        </p:spPr>
        <p:txBody>
          <a:bodyPr wrap="square" lIns="0" tIns="0" rIns="0" bIns="0" rtlCol="0" anchor="ctr">
            <a:normAutofit/>
          </a:bodyPr>
          <a:lstStyle/>
          <a:p>
            <a:pPr indent="0" marL="0">
              <a:buNone/>
            </a:pPr>
            <a:r>
              <a:rPr lang="en-US" sz="1250" b="1" dirty="0">
                <a:solidFill>
                  <a:srgbClr val="24B6E6"/>
                </a:solidFill>
                <a:latin typeface="Arial" pitchFamily="34" charset="0"/>
                <a:ea typeface="Arial" pitchFamily="34" charset="-122"/>
                <a:cs typeface="Arial" pitchFamily="34" charset="-120"/>
              </a:rPr>
              <a:t>kaggle</a:t>
            </a:r>
            <a:endParaRPr lang="en-US" sz="1250" dirty="0"/>
          </a:p>
        </p:txBody>
      </p:sp>
      <p:sp>
        <p:nvSpPr>
          <p:cNvPr id="6" name="Text 4"/>
          <p:cNvSpPr/>
          <p:nvPr/>
        </p:nvSpPr>
        <p:spPr>
          <a:xfrm>
            <a:off x="5577840" y="4828032"/>
            <a:ext cx="2834640" cy="146304"/>
          </a:xfrm>
          <a:prstGeom prst="rect">
            <a:avLst/>
          </a:prstGeom>
          <a:noFill/>
          <a:ln/>
        </p:spPr>
        <p:txBody>
          <a:bodyPr wrap="square" lIns="0" tIns="0" rIns="0" bIns="0" rtlCol="0" anchor="ctr">
            <a:normAutofit/>
          </a:bodyPr>
          <a:lstStyle/>
          <a:p>
            <a:pPr algn="r" indent="0" marL="0">
              <a:buNone/>
            </a:pPr>
            <a:r>
              <a:rPr lang="en-US" sz="670" dirty="0">
                <a:solidFill>
                  <a:srgbClr val="89959C"/>
                </a:solidFill>
                <a:latin typeface="Arial" pitchFamily="34" charset="0"/>
                <a:ea typeface="Arial" pitchFamily="34" charset="-122"/>
                <a:cs typeface="Arial" pitchFamily="34" charset="-120"/>
              </a:rPr>
              <a:t>Giovanny Rodríguez  /  AI Agent Security</a:t>
            </a:r>
            <a:endParaRPr lang="en-US" sz="670" dirty="0"/>
          </a:p>
        </p:txBody>
      </p:sp>
      <p:sp>
        <p:nvSpPr>
          <p:cNvPr id="7" name="Text 5"/>
          <p:cNvSpPr/>
          <p:nvPr/>
        </p:nvSpPr>
        <p:spPr>
          <a:xfrm>
            <a:off x="8622792" y="4800600"/>
            <a:ext cx="155448" cy="182880"/>
          </a:xfrm>
          <a:prstGeom prst="rect">
            <a:avLst/>
          </a:prstGeom>
          <a:noFill/>
          <a:ln/>
        </p:spPr>
        <p:txBody>
          <a:bodyPr wrap="square" lIns="0" tIns="0" rIns="0" bIns="0" rtlCol="0" anchor="ctr">
            <a:normAutofit/>
          </a:bodyPr>
          <a:lstStyle/>
          <a:p>
            <a:pPr algn="r" indent="0" marL="0">
              <a:buNone/>
            </a:pPr>
            <a:r>
              <a:rPr lang="en-US" sz="820" dirty="0">
                <a:solidFill>
                  <a:srgbClr val="89959C"/>
                </a:solidFill>
                <a:latin typeface="Arial" pitchFamily="34" charset="0"/>
                <a:ea typeface="Arial" pitchFamily="34" charset="-122"/>
                <a:cs typeface="Arial" pitchFamily="34" charset="-120"/>
              </a:rPr>
              <a:t>3</a:t>
            </a:r>
            <a:endParaRPr lang="en-US" sz="820" dirty="0"/>
          </a:p>
        </p:txBody>
      </p:sp>
      <p:sp>
        <p:nvSpPr>
          <p:cNvPr id="8" name="Shape 6"/>
          <p:cNvSpPr/>
          <p:nvPr/>
        </p:nvSpPr>
        <p:spPr>
          <a:xfrm>
            <a:off x="429768" y="1417320"/>
            <a:ext cx="1481328" cy="621792"/>
          </a:xfrm>
          <a:prstGeom prst="roundRect">
            <a:avLst>
              <a:gd name="adj" fmla="val 13235"/>
            </a:avLst>
          </a:prstGeom>
          <a:solidFill>
            <a:srgbClr val="F6F8FA"/>
          </a:solidFill>
          <a:ln w="8890">
            <a:solidFill>
              <a:srgbClr val="DFE5E9"/>
            </a:solidFill>
            <a:prstDash val="solid"/>
          </a:ln>
        </p:spPr>
      </p:sp>
      <p:sp>
        <p:nvSpPr>
          <p:cNvPr id="9" name="Text 7"/>
          <p:cNvSpPr/>
          <p:nvPr/>
        </p:nvSpPr>
        <p:spPr>
          <a:xfrm>
            <a:off x="484632" y="1536192"/>
            <a:ext cx="1371600" cy="164592"/>
          </a:xfrm>
          <a:prstGeom prst="rect">
            <a:avLst/>
          </a:prstGeom>
          <a:noFill/>
          <a:ln/>
        </p:spPr>
        <p:txBody>
          <a:bodyPr wrap="square" lIns="0" tIns="0" rIns="0" bIns="0" rtlCol="0" anchor="ctr">
            <a:normAutofit/>
          </a:bodyPr>
          <a:lstStyle/>
          <a:p>
            <a:pPr algn="ctr" indent="0" marL="0">
              <a:buNone/>
            </a:pPr>
            <a:r>
              <a:rPr lang="en-US" sz="1210" b="1" dirty="0">
                <a:solidFill>
                  <a:srgbClr val="1D252B"/>
                </a:solidFill>
                <a:latin typeface="Arial" pitchFamily="34" charset="0"/>
                <a:ea typeface="Arial" pitchFamily="34" charset="-122"/>
                <a:cs typeface="Arial" pitchFamily="34" charset="-120"/>
              </a:rPr>
              <a:t>User</a:t>
            </a:r>
            <a:endParaRPr lang="en-US" sz="1210" dirty="0"/>
          </a:p>
        </p:txBody>
      </p:sp>
      <p:sp>
        <p:nvSpPr>
          <p:cNvPr id="10" name="Text 8"/>
          <p:cNvSpPr/>
          <p:nvPr/>
        </p:nvSpPr>
        <p:spPr>
          <a:xfrm>
            <a:off x="484632" y="1746504"/>
            <a:ext cx="1371600" cy="118872"/>
          </a:xfrm>
          <a:prstGeom prst="rect">
            <a:avLst/>
          </a:prstGeom>
          <a:noFill/>
          <a:ln/>
        </p:spPr>
        <p:txBody>
          <a:bodyPr wrap="square" lIns="0" tIns="0" rIns="0" bIns="0" rtlCol="0" anchor="ctr">
            <a:normAutofit/>
          </a:bodyPr>
          <a:lstStyle/>
          <a:p>
            <a:pPr algn="ctr" indent="0" marL="0">
              <a:buNone/>
            </a:pPr>
            <a:r>
              <a:rPr lang="en-US" sz="910" dirty="0">
                <a:solidFill>
                  <a:srgbClr val="5B6871"/>
                </a:solidFill>
                <a:latin typeface="Arial" pitchFamily="34" charset="0"/>
                <a:ea typeface="Arial" pitchFamily="34" charset="-122"/>
                <a:cs typeface="Arial" pitchFamily="34" charset="-120"/>
              </a:rPr>
              <a:t>message</a:t>
            </a:r>
            <a:endParaRPr lang="en-US" sz="910" dirty="0"/>
          </a:p>
        </p:txBody>
      </p:sp>
      <p:sp>
        <p:nvSpPr>
          <p:cNvPr id="11" name="Text 9"/>
          <p:cNvSpPr/>
          <p:nvPr/>
        </p:nvSpPr>
        <p:spPr>
          <a:xfrm>
            <a:off x="1927555" y="1600200"/>
            <a:ext cx="194767" cy="173736"/>
          </a:xfrm>
          <a:prstGeom prst="rect">
            <a:avLst/>
          </a:prstGeom>
          <a:noFill/>
          <a:ln/>
        </p:spPr>
        <p:txBody>
          <a:bodyPr wrap="square" lIns="0" tIns="0" rIns="0" bIns="0" rtlCol="0" anchor="ctr">
            <a:normAutofit/>
          </a:bodyPr>
          <a:lstStyle/>
          <a:p>
            <a:pPr algn="ctr" indent="0" marL="0">
              <a:buNone/>
            </a:pPr>
            <a:r>
              <a:rPr lang="en-US" sz="1400" b="1" dirty="0">
                <a:solidFill>
                  <a:srgbClr val="24B6E6"/>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2139696" y="1417320"/>
            <a:ext cx="1481328" cy="621792"/>
          </a:xfrm>
          <a:prstGeom prst="roundRect">
            <a:avLst>
              <a:gd name="adj" fmla="val 13235"/>
            </a:avLst>
          </a:prstGeom>
          <a:solidFill>
            <a:srgbClr val="F6F8FA"/>
          </a:solidFill>
          <a:ln w="8890">
            <a:solidFill>
              <a:srgbClr val="DFE5E9"/>
            </a:solidFill>
            <a:prstDash val="solid"/>
          </a:ln>
        </p:spPr>
      </p:sp>
      <p:sp>
        <p:nvSpPr>
          <p:cNvPr id="13" name="Text 11"/>
          <p:cNvSpPr/>
          <p:nvPr/>
        </p:nvSpPr>
        <p:spPr>
          <a:xfrm>
            <a:off x="2194560" y="1536192"/>
            <a:ext cx="1371600" cy="164592"/>
          </a:xfrm>
          <a:prstGeom prst="rect">
            <a:avLst/>
          </a:prstGeom>
          <a:noFill/>
          <a:ln/>
        </p:spPr>
        <p:txBody>
          <a:bodyPr wrap="square" lIns="0" tIns="0" rIns="0" bIns="0" rtlCol="0" anchor="ctr">
            <a:normAutofit/>
          </a:bodyPr>
          <a:lstStyle/>
          <a:p>
            <a:pPr algn="ctr" indent="0" marL="0">
              <a:buNone/>
            </a:pPr>
            <a:r>
              <a:rPr lang="en-US" sz="1210" b="1" dirty="0">
                <a:solidFill>
                  <a:srgbClr val="1D252B"/>
                </a:solidFill>
                <a:latin typeface="Arial" pitchFamily="34" charset="0"/>
                <a:ea typeface="Arial" pitchFamily="34" charset="-122"/>
                <a:cs typeface="Arial" pitchFamily="34" charset="-120"/>
              </a:rPr>
              <a:t>Generation 1</a:t>
            </a:r>
            <a:endParaRPr lang="en-US" sz="1210" dirty="0"/>
          </a:p>
        </p:txBody>
      </p:sp>
      <p:sp>
        <p:nvSpPr>
          <p:cNvPr id="14" name="Text 12"/>
          <p:cNvSpPr/>
          <p:nvPr/>
        </p:nvSpPr>
        <p:spPr>
          <a:xfrm>
            <a:off x="2194560" y="1746504"/>
            <a:ext cx="1371600" cy="118872"/>
          </a:xfrm>
          <a:prstGeom prst="rect">
            <a:avLst/>
          </a:prstGeom>
          <a:noFill/>
          <a:ln/>
        </p:spPr>
        <p:txBody>
          <a:bodyPr wrap="square" lIns="0" tIns="0" rIns="0" bIns="0" rtlCol="0" anchor="ctr">
            <a:normAutofit/>
          </a:bodyPr>
          <a:lstStyle/>
          <a:p>
            <a:pPr algn="ctr" indent="0" marL="0">
              <a:buNone/>
            </a:pPr>
            <a:r>
              <a:rPr lang="en-US" sz="910" dirty="0">
                <a:solidFill>
                  <a:srgbClr val="5B6871"/>
                </a:solidFill>
                <a:latin typeface="Arial" pitchFamily="34" charset="0"/>
                <a:ea typeface="Arial" pitchFamily="34" charset="-122"/>
                <a:cs typeface="Arial" pitchFamily="34" charset="-120"/>
              </a:rPr>
              <a:t>tool call</a:t>
            </a:r>
            <a:endParaRPr lang="en-US" sz="910" dirty="0"/>
          </a:p>
        </p:txBody>
      </p:sp>
      <p:sp>
        <p:nvSpPr>
          <p:cNvPr id="15" name="Text 13"/>
          <p:cNvSpPr/>
          <p:nvPr/>
        </p:nvSpPr>
        <p:spPr>
          <a:xfrm>
            <a:off x="3637483" y="1600200"/>
            <a:ext cx="194767" cy="173736"/>
          </a:xfrm>
          <a:prstGeom prst="rect">
            <a:avLst/>
          </a:prstGeom>
          <a:noFill/>
          <a:ln/>
        </p:spPr>
        <p:txBody>
          <a:bodyPr wrap="square" lIns="0" tIns="0" rIns="0" bIns="0" rtlCol="0" anchor="ctr">
            <a:normAutofit/>
          </a:bodyPr>
          <a:lstStyle/>
          <a:p>
            <a:pPr algn="ctr" indent="0" marL="0">
              <a:buNone/>
            </a:pPr>
            <a:r>
              <a:rPr lang="en-US" sz="1400" b="1" dirty="0">
                <a:solidFill>
                  <a:srgbClr val="24B6E6"/>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3849624" y="1417320"/>
            <a:ext cx="1481328" cy="621792"/>
          </a:xfrm>
          <a:prstGeom prst="roundRect">
            <a:avLst>
              <a:gd name="adj" fmla="val 13235"/>
            </a:avLst>
          </a:prstGeom>
          <a:solidFill>
            <a:srgbClr val="F6F8FA"/>
          </a:solidFill>
          <a:ln w="8890">
            <a:solidFill>
              <a:srgbClr val="DFE5E9"/>
            </a:solidFill>
            <a:prstDash val="solid"/>
          </a:ln>
        </p:spPr>
      </p:sp>
      <p:sp>
        <p:nvSpPr>
          <p:cNvPr id="17" name="Text 15"/>
          <p:cNvSpPr/>
          <p:nvPr/>
        </p:nvSpPr>
        <p:spPr>
          <a:xfrm>
            <a:off x="3904488" y="1536192"/>
            <a:ext cx="1371600" cy="164592"/>
          </a:xfrm>
          <a:prstGeom prst="rect">
            <a:avLst/>
          </a:prstGeom>
          <a:noFill/>
          <a:ln/>
        </p:spPr>
        <p:txBody>
          <a:bodyPr wrap="square" lIns="0" tIns="0" rIns="0" bIns="0" rtlCol="0" anchor="ctr">
            <a:normAutofit/>
          </a:bodyPr>
          <a:lstStyle/>
          <a:p>
            <a:pPr algn="ctr" indent="0" marL="0">
              <a:buNone/>
            </a:pPr>
            <a:r>
              <a:rPr lang="en-US" sz="1210" b="1" dirty="0">
                <a:solidFill>
                  <a:srgbClr val="1D252B"/>
                </a:solidFill>
                <a:latin typeface="Arial" pitchFamily="34" charset="0"/>
                <a:ea typeface="Arial" pitchFamily="34" charset="-122"/>
                <a:cs typeface="Arial" pitchFamily="34" charset="-120"/>
              </a:rPr>
              <a:t>Tool</a:t>
            </a:r>
            <a:endParaRPr lang="en-US" sz="1210" dirty="0"/>
          </a:p>
        </p:txBody>
      </p:sp>
      <p:sp>
        <p:nvSpPr>
          <p:cNvPr id="18" name="Text 16"/>
          <p:cNvSpPr/>
          <p:nvPr/>
        </p:nvSpPr>
        <p:spPr>
          <a:xfrm>
            <a:off x="3904488" y="1746504"/>
            <a:ext cx="1371600" cy="118872"/>
          </a:xfrm>
          <a:prstGeom prst="rect">
            <a:avLst/>
          </a:prstGeom>
          <a:noFill/>
          <a:ln/>
        </p:spPr>
        <p:txBody>
          <a:bodyPr wrap="square" lIns="0" tIns="0" rIns="0" bIns="0" rtlCol="0" anchor="ctr">
            <a:normAutofit/>
          </a:bodyPr>
          <a:lstStyle/>
          <a:p>
            <a:pPr algn="ctr" indent="0" marL="0">
              <a:buNone/>
            </a:pPr>
            <a:r>
              <a:rPr lang="en-US" sz="910" dirty="0">
                <a:solidFill>
                  <a:srgbClr val="5B6871"/>
                </a:solidFill>
                <a:latin typeface="Arial" pitchFamily="34" charset="0"/>
                <a:ea typeface="Arial" pitchFamily="34" charset="-122"/>
                <a:cs typeface="Arial" pitchFamily="34" charset="-120"/>
              </a:rPr>
              <a:t>executes</a:t>
            </a:r>
            <a:endParaRPr lang="en-US" sz="910" dirty="0"/>
          </a:p>
        </p:txBody>
      </p:sp>
      <p:sp>
        <p:nvSpPr>
          <p:cNvPr id="19" name="Text 17"/>
          <p:cNvSpPr/>
          <p:nvPr/>
        </p:nvSpPr>
        <p:spPr>
          <a:xfrm>
            <a:off x="5347411" y="1600200"/>
            <a:ext cx="194767" cy="173736"/>
          </a:xfrm>
          <a:prstGeom prst="rect">
            <a:avLst/>
          </a:prstGeom>
          <a:noFill/>
          <a:ln/>
        </p:spPr>
        <p:txBody>
          <a:bodyPr wrap="square" lIns="0" tIns="0" rIns="0" bIns="0" rtlCol="0" anchor="ctr">
            <a:normAutofit/>
          </a:bodyPr>
          <a:lstStyle/>
          <a:p>
            <a:pPr algn="ctr" indent="0" marL="0">
              <a:buNone/>
            </a:pPr>
            <a:r>
              <a:rPr lang="en-US" sz="1400" b="1" dirty="0">
                <a:solidFill>
                  <a:srgbClr val="24B6E6"/>
                </a:solidFill>
                <a:latin typeface="Arial" pitchFamily="34" charset="0"/>
                <a:ea typeface="Arial" pitchFamily="34" charset="-122"/>
                <a:cs typeface="Arial" pitchFamily="34" charset="-120"/>
              </a:rPr>
              <a:t>→</a:t>
            </a:r>
            <a:endParaRPr lang="en-US" sz="1400" dirty="0"/>
          </a:p>
        </p:txBody>
      </p:sp>
      <p:sp>
        <p:nvSpPr>
          <p:cNvPr id="20" name="Shape 18"/>
          <p:cNvSpPr/>
          <p:nvPr/>
        </p:nvSpPr>
        <p:spPr>
          <a:xfrm>
            <a:off x="5559552" y="1417320"/>
            <a:ext cx="1481328" cy="621792"/>
          </a:xfrm>
          <a:prstGeom prst="roundRect">
            <a:avLst>
              <a:gd name="adj" fmla="val 13235"/>
            </a:avLst>
          </a:prstGeom>
          <a:solidFill>
            <a:srgbClr val="F6F8FA"/>
          </a:solidFill>
          <a:ln w="8890">
            <a:solidFill>
              <a:srgbClr val="DFE5E9"/>
            </a:solidFill>
            <a:prstDash val="solid"/>
          </a:ln>
        </p:spPr>
      </p:sp>
      <p:sp>
        <p:nvSpPr>
          <p:cNvPr id="21" name="Text 19"/>
          <p:cNvSpPr/>
          <p:nvPr/>
        </p:nvSpPr>
        <p:spPr>
          <a:xfrm>
            <a:off x="5614416" y="1536192"/>
            <a:ext cx="1371600" cy="164592"/>
          </a:xfrm>
          <a:prstGeom prst="rect">
            <a:avLst/>
          </a:prstGeom>
          <a:noFill/>
          <a:ln/>
        </p:spPr>
        <p:txBody>
          <a:bodyPr wrap="square" lIns="0" tIns="0" rIns="0" bIns="0" rtlCol="0" anchor="ctr">
            <a:normAutofit/>
          </a:bodyPr>
          <a:lstStyle/>
          <a:p>
            <a:pPr algn="ctr" indent="0" marL="0">
              <a:buNone/>
            </a:pPr>
            <a:r>
              <a:rPr lang="en-US" sz="1210" b="1" dirty="0">
                <a:solidFill>
                  <a:srgbClr val="1D252B"/>
                </a:solidFill>
                <a:latin typeface="Arial" pitchFamily="34" charset="0"/>
                <a:ea typeface="Arial" pitchFamily="34" charset="-122"/>
                <a:cs typeface="Arial" pitchFamily="34" charset="-120"/>
              </a:rPr>
              <a:t>History</a:t>
            </a:r>
            <a:endParaRPr lang="en-US" sz="1210" dirty="0"/>
          </a:p>
        </p:txBody>
      </p:sp>
      <p:sp>
        <p:nvSpPr>
          <p:cNvPr id="22" name="Text 20"/>
          <p:cNvSpPr/>
          <p:nvPr/>
        </p:nvSpPr>
        <p:spPr>
          <a:xfrm>
            <a:off x="5614416" y="1746504"/>
            <a:ext cx="1371600" cy="118872"/>
          </a:xfrm>
          <a:prstGeom prst="rect">
            <a:avLst/>
          </a:prstGeom>
          <a:noFill/>
          <a:ln/>
        </p:spPr>
        <p:txBody>
          <a:bodyPr wrap="square" lIns="0" tIns="0" rIns="0" bIns="0" rtlCol="0" anchor="ctr">
            <a:normAutofit/>
          </a:bodyPr>
          <a:lstStyle/>
          <a:p>
            <a:pPr algn="ctr" indent="0" marL="0">
              <a:buNone/>
            </a:pPr>
            <a:r>
              <a:rPr lang="en-US" sz="910" dirty="0">
                <a:solidFill>
                  <a:srgbClr val="5B6871"/>
                </a:solidFill>
                <a:latin typeface="Arial" pitchFamily="34" charset="0"/>
                <a:ea typeface="Arial" pitchFamily="34" charset="-122"/>
                <a:cs typeface="Arial" pitchFamily="34" charset="-120"/>
              </a:rPr>
              <a:t>rebuild</a:t>
            </a:r>
            <a:endParaRPr lang="en-US" sz="910" dirty="0"/>
          </a:p>
        </p:txBody>
      </p:sp>
      <p:sp>
        <p:nvSpPr>
          <p:cNvPr id="23" name="Text 21"/>
          <p:cNvSpPr/>
          <p:nvPr/>
        </p:nvSpPr>
        <p:spPr>
          <a:xfrm>
            <a:off x="7057339" y="1600200"/>
            <a:ext cx="194767" cy="173736"/>
          </a:xfrm>
          <a:prstGeom prst="rect">
            <a:avLst/>
          </a:prstGeom>
          <a:noFill/>
          <a:ln/>
        </p:spPr>
        <p:txBody>
          <a:bodyPr wrap="square" lIns="0" tIns="0" rIns="0" bIns="0" rtlCol="0" anchor="ctr">
            <a:normAutofit/>
          </a:bodyPr>
          <a:lstStyle/>
          <a:p>
            <a:pPr algn="ctr" indent="0" marL="0">
              <a:buNone/>
            </a:pPr>
            <a:r>
              <a:rPr lang="en-US" sz="1400" b="1" dirty="0">
                <a:solidFill>
                  <a:srgbClr val="24B6E6"/>
                </a:solidFill>
                <a:latin typeface="Arial" pitchFamily="34" charset="0"/>
                <a:ea typeface="Arial" pitchFamily="34" charset="-122"/>
                <a:cs typeface="Arial" pitchFamily="34" charset="-120"/>
              </a:rPr>
              <a:t>→</a:t>
            </a:r>
            <a:endParaRPr lang="en-US" sz="1400" dirty="0"/>
          </a:p>
        </p:txBody>
      </p:sp>
      <p:sp>
        <p:nvSpPr>
          <p:cNvPr id="24" name="Shape 22"/>
          <p:cNvSpPr/>
          <p:nvPr/>
        </p:nvSpPr>
        <p:spPr>
          <a:xfrm>
            <a:off x="7269480" y="1417320"/>
            <a:ext cx="1481328" cy="621792"/>
          </a:xfrm>
          <a:prstGeom prst="roundRect">
            <a:avLst>
              <a:gd name="adj" fmla="val 13235"/>
            </a:avLst>
          </a:prstGeom>
          <a:solidFill>
            <a:srgbClr val="EFF9FC"/>
          </a:solidFill>
          <a:ln w="8890">
            <a:solidFill>
              <a:srgbClr val="99D9EB"/>
            </a:solidFill>
            <a:prstDash val="solid"/>
          </a:ln>
        </p:spPr>
      </p:sp>
      <p:sp>
        <p:nvSpPr>
          <p:cNvPr id="25" name="Text 23"/>
          <p:cNvSpPr/>
          <p:nvPr/>
        </p:nvSpPr>
        <p:spPr>
          <a:xfrm>
            <a:off x="7324344" y="1536192"/>
            <a:ext cx="1371600" cy="164592"/>
          </a:xfrm>
          <a:prstGeom prst="rect">
            <a:avLst/>
          </a:prstGeom>
          <a:noFill/>
          <a:ln/>
        </p:spPr>
        <p:txBody>
          <a:bodyPr wrap="square" lIns="0" tIns="0" rIns="0" bIns="0" rtlCol="0" anchor="ctr">
            <a:normAutofit/>
          </a:bodyPr>
          <a:lstStyle/>
          <a:p>
            <a:pPr algn="ctr" indent="0" marL="0">
              <a:buNone/>
            </a:pPr>
            <a:r>
              <a:rPr lang="en-US" sz="1210" b="1" dirty="0">
                <a:solidFill>
                  <a:srgbClr val="1D252B"/>
                </a:solidFill>
                <a:latin typeface="Arial" pitchFamily="34" charset="0"/>
                <a:ea typeface="Arial" pitchFamily="34" charset="-122"/>
                <a:cs typeface="Arial" pitchFamily="34" charset="-120"/>
              </a:rPr>
              <a:t>Generation 2</a:t>
            </a:r>
            <a:endParaRPr lang="en-US" sz="1210" dirty="0"/>
          </a:p>
        </p:txBody>
      </p:sp>
      <p:sp>
        <p:nvSpPr>
          <p:cNvPr id="26" name="Text 24"/>
          <p:cNvSpPr/>
          <p:nvPr/>
        </p:nvSpPr>
        <p:spPr>
          <a:xfrm>
            <a:off x="7324344" y="1746504"/>
            <a:ext cx="1371600" cy="118872"/>
          </a:xfrm>
          <a:prstGeom prst="rect">
            <a:avLst/>
          </a:prstGeom>
          <a:noFill/>
          <a:ln/>
        </p:spPr>
        <p:txBody>
          <a:bodyPr wrap="square" lIns="0" tIns="0" rIns="0" bIns="0" rtlCol="0" anchor="ctr">
            <a:normAutofit/>
          </a:bodyPr>
          <a:lstStyle/>
          <a:p>
            <a:pPr algn="ctr" indent="0" marL="0">
              <a:buNone/>
            </a:pPr>
            <a:r>
              <a:rPr lang="en-US" sz="910" dirty="0">
                <a:solidFill>
                  <a:srgbClr val="5B6871"/>
                </a:solidFill>
                <a:latin typeface="Arial" pitchFamily="34" charset="0"/>
                <a:ea typeface="Arial" pitchFamily="34" charset="-122"/>
                <a:cs typeface="Arial" pitchFamily="34" charset="-120"/>
              </a:rPr>
              <a:t>finish</a:t>
            </a:r>
            <a:endParaRPr lang="en-US" sz="910" dirty="0"/>
          </a:p>
        </p:txBody>
      </p:sp>
      <p:sp>
        <p:nvSpPr>
          <p:cNvPr id="27" name="Text 25"/>
          <p:cNvSpPr/>
          <p:nvPr/>
        </p:nvSpPr>
        <p:spPr>
          <a:xfrm>
            <a:off x="566928" y="2276856"/>
            <a:ext cx="6309360" cy="219456"/>
          </a:xfrm>
          <a:prstGeom prst="rect">
            <a:avLst/>
          </a:prstGeom>
          <a:noFill/>
          <a:ln/>
        </p:spPr>
        <p:txBody>
          <a:bodyPr wrap="square" lIns="0" tIns="0" rIns="0" bIns="0" rtlCol="0" anchor="ctr">
            <a:normAutofit/>
          </a:bodyPr>
          <a:lstStyle/>
          <a:p>
            <a:pPr indent="0" marL="0">
              <a:buNone/>
            </a:pPr>
            <a:r>
              <a:rPr lang="en-US" sz="1250" b="1" dirty="0">
                <a:solidFill>
                  <a:srgbClr val="1D252B"/>
                </a:solidFill>
                <a:latin typeface="Arial" pitchFamily="34" charset="0"/>
                <a:ea typeface="Arial" pitchFamily="34" charset="-122"/>
                <a:cs typeface="Arial" pitchFamily="34" charset="-120"/>
              </a:rPr>
              <a:t>Replay time composition  ·  200 HTTP candidates</a:t>
            </a:r>
            <a:endParaRPr lang="en-US" sz="1250" dirty="0"/>
          </a:p>
        </p:txBody>
      </p:sp>
      <p:sp>
        <p:nvSpPr>
          <p:cNvPr id="28" name="Text 26"/>
          <p:cNvSpPr/>
          <p:nvPr/>
        </p:nvSpPr>
        <p:spPr>
          <a:xfrm>
            <a:off x="566928" y="2688336"/>
            <a:ext cx="1042416" cy="228600"/>
          </a:xfrm>
          <a:prstGeom prst="rect">
            <a:avLst/>
          </a:prstGeom>
          <a:noFill/>
          <a:ln/>
        </p:spPr>
        <p:txBody>
          <a:bodyPr wrap="square" lIns="0" tIns="0" rIns="0" bIns="0" rtlCol="0" anchor="ctr">
            <a:normAutofit/>
          </a:bodyPr>
          <a:lstStyle/>
          <a:p>
            <a:pPr indent="0" marL="0">
              <a:buNone/>
            </a:pPr>
            <a:r>
              <a:rPr lang="en-US" sz="1230" b="1" dirty="0">
                <a:solidFill>
                  <a:srgbClr val="1D252B"/>
                </a:solidFill>
                <a:latin typeface="Arial" pitchFamily="34" charset="0"/>
                <a:ea typeface="Arial" pitchFamily="34" charset="-122"/>
                <a:cs typeface="Arial" pitchFamily="34" charset="-120"/>
              </a:rPr>
              <a:t>GPT-OSS</a:t>
            </a:r>
            <a:endParaRPr lang="en-US" sz="1230" dirty="0"/>
          </a:p>
        </p:txBody>
      </p:sp>
      <p:sp>
        <p:nvSpPr>
          <p:cNvPr id="29" name="Text 27"/>
          <p:cNvSpPr/>
          <p:nvPr/>
        </p:nvSpPr>
        <p:spPr>
          <a:xfrm>
            <a:off x="566928" y="2935224"/>
            <a:ext cx="1051560" cy="228600"/>
          </a:xfrm>
          <a:prstGeom prst="rect">
            <a:avLst/>
          </a:prstGeom>
          <a:noFill/>
          <a:ln/>
        </p:spPr>
        <p:txBody>
          <a:bodyPr wrap="square" lIns="0" tIns="0" rIns="0" bIns="0" rtlCol="0" anchor="ctr">
            <a:normAutofit/>
          </a:bodyPr>
          <a:lstStyle/>
          <a:p>
            <a:pPr indent="0" marL="0">
              <a:buNone/>
            </a:pPr>
            <a:r>
              <a:rPr lang="en-US" sz="1010" dirty="0">
                <a:solidFill>
                  <a:srgbClr val="5B6871"/>
                </a:solidFill>
                <a:latin typeface="Arial" pitchFamily="34" charset="0"/>
                <a:ea typeface="Arial" pitchFamily="34" charset="-122"/>
                <a:cs typeface="Arial" pitchFamily="34" charset="-120"/>
              </a:rPr>
              <a:t>84.358 s</a:t>
            </a:r>
            <a:endParaRPr lang="en-US" sz="1010" dirty="0"/>
          </a:p>
        </p:txBody>
      </p:sp>
      <p:sp>
        <p:nvSpPr>
          <p:cNvPr id="30" name="Shape 28"/>
          <p:cNvSpPr/>
          <p:nvPr/>
        </p:nvSpPr>
        <p:spPr>
          <a:xfrm>
            <a:off x="1764792" y="2706624"/>
            <a:ext cx="4527487" cy="448056"/>
          </a:xfrm>
          <a:prstGeom prst="rect">
            <a:avLst/>
          </a:prstGeom>
          <a:solidFill>
            <a:srgbClr val="204D5B"/>
          </a:solidFill>
          <a:ln w="12700">
            <a:solidFill>
              <a:srgbClr val="204D5B"/>
            </a:solidFill>
            <a:prstDash val="solid"/>
          </a:ln>
        </p:spPr>
      </p:sp>
      <p:sp>
        <p:nvSpPr>
          <p:cNvPr id="31" name="Shape 29"/>
          <p:cNvSpPr/>
          <p:nvPr/>
        </p:nvSpPr>
        <p:spPr>
          <a:xfrm>
            <a:off x="6292279" y="2706624"/>
            <a:ext cx="1805684" cy="448056"/>
          </a:xfrm>
          <a:prstGeom prst="rect">
            <a:avLst/>
          </a:prstGeom>
          <a:solidFill>
            <a:srgbClr val="D87E4B"/>
          </a:solidFill>
          <a:ln w="12700">
            <a:solidFill>
              <a:srgbClr val="D87E4B"/>
            </a:solidFill>
            <a:prstDash val="solid"/>
          </a:ln>
        </p:spPr>
      </p:sp>
      <p:sp>
        <p:nvSpPr>
          <p:cNvPr id="32" name="Shape 30"/>
          <p:cNvSpPr/>
          <p:nvPr/>
        </p:nvSpPr>
        <p:spPr>
          <a:xfrm>
            <a:off x="8097963" y="2706624"/>
            <a:ext cx="305373" cy="448056"/>
          </a:xfrm>
          <a:prstGeom prst="rect">
            <a:avLst/>
          </a:prstGeom>
          <a:solidFill>
            <a:srgbClr val="CBD6DA"/>
          </a:solidFill>
          <a:ln w="12700">
            <a:solidFill>
              <a:srgbClr val="CBD6DA"/>
            </a:solidFill>
            <a:prstDash val="solid"/>
          </a:ln>
        </p:spPr>
      </p:sp>
      <p:sp>
        <p:nvSpPr>
          <p:cNvPr id="33" name="Text 31"/>
          <p:cNvSpPr/>
          <p:nvPr/>
        </p:nvSpPr>
        <p:spPr>
          <a:xfrm>
            <a:off x="1883664" y="2816352"/>
            <a:ext cx="4298887" cy="182880"/>
          </a:xfrm>
          <a:prstGeom prst="rect">
            <a:avLst/>
          </a:prstGeom>
          <a:noFill/>
          <a:ln/>
        </p:spPr>
        <p:txBody>
          <a:bodyPr wrap="square" lIns="0" tIns="0" rIns="0" bIns="0" rtlCol="0" anchor="ctr">
            <a:normAutofit/>
          </a:bodyPr>
          <a:lstStyle/>
          <a:p>
            <a:pPr algn="ctr" indent="0" marL="0">
              <a:buNone/>
            </a:pPr>
            <a:r>
              <a:rPr lang="en-US" sz="1210" b="1" dirty="0">
                <a:solidFill>
                  <a:srgbClr val="FFFFFF"/>
                </a:solidFill>
                <a:latin typeface="Arial" pitchFamily="34" charset="0"/>
                <a:ea typeface="Arial" pitchFamily="34" charset="-122"/>
                <a:cs typeface="Arial" pitchFamily="34" charset="-120"/>
              </a:rPr>
              <a:t>68.2%</a:t>
            </a:r>
            <a:endParaRPr lang="en-US" sz="1210" dirty="0"/>
          </a:p>
        </p:txBody>
      </p:sp>
      <p:sp>
        <p:nvSpPr>
          <p:cNvPr id="34" name="Text 32"/>
          <p:cNvSpPr/>
          <p:nvPr/>
        </p:nvSpPr>
        <p:spPr>
          <a:xfrm>
            <a:off x="6356287" y="2816352"/>
            <a:ext cx="1668524" cy="182880"/>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27.2%</a:t>
            </a:r>
            <a:endParaRPr lang="en-US" sz="1150" dirty="0"/>
          </a:p>
        </p:txBody>
      </p:sp>
      <p:sp>
        <p:nvSpPr>
          <p:cNvPr id="35" name="Text 33"/>
          <p:cNvSpPr/>
          <p:nvPr/>
        </p:nvSpPr>
        <p:spPr>
          <a:xfrm>
            <a:off x="566928" y="3383280"/>
            <a:ext cx="1042416" cy="228600"/>
          </a:xfrm>
          <a:prstGeom prst="rect">
            <a:avLst/>
          </a:prstGeom>
          <a:noFill/>
          <a:ln/>
        </p:spPr>
        <p:txBody>
          <a:bodyPr wrap="square" lIns="0" tIns="0" rIns="0" bIns="0" rtlCol="0" anchor="ctr">
            <a:normAutofit/>
          </a:bodyPr>
          <a:lstStyle/>
          <a:p>
            <a:pPr indent="0" marL="0">
              <a:buNone/>
            </a:pPr>
            <a:r>
              <a:rPr lang="en-US" sz="1230" b="1" dirty="0">
                <a:solidFill>
                  <a:srgbClr val="1D252B"/>
                </a:solidFill>
                <a:latin typeface="Arial" pitchFamily="34" charset="0"/>
                <a:ea typeface="Arial" pitchFamily="34" charset="-122"/>
                <a:cs typeface="Arial" pitchFamily="34" charset="-120"/>
              </a:rPr>
              <a:t>Gemma</a:t>
            </a:r>
            <a:endParaRPr lang="en-US" sz="1230" dirty="0"/>
          </a:p>
        </p:txBody>
      </p:sp>
      <p:sp>
        <p:nvSpPr>
          <p:cNvPr id="36" name="Text 34"/>
          <p:cNvSpPr/>
          <p:nvPr/>
        </p:nvSpPr>
        <p:spPr>
          <a:xfrm>
            <a:off x="566928" y="3630168"/>
            <a:ext cx="1051560" cy="228600"/>
          </a:xfrm>
          <a:prstGeom prst="rect">
            <a:avLst/>
          </a:prstGeom>
          <a:noFill/>
          <a:ln/>
        </p:spPr>
        <p:txBody>
          <a:bodyPr wrap="square" lIns="0" tIns="0" rIns="0" bIns="0" rtlCol="0" anchor="ctr">
            <a:normAutofit/>
          </a:bodyPr>
          <a:lstStyle/>
          <a:p>
            <a:pPr indent="0" marL="0">
              <a:buNone/>
            </a:pPr>
            <a:r>
              <a:rPr lang="en-US" sz="1010" dirty="0">
                <a:solidFill>
                  <a:srgbClr val="5B6871"/>
                </a:solidFill>
                <a:latin typeface="Arial" pitchFamily="34" charset="0"/>
                <a:ea typeface="Arial" pitchFamily="34" charset="-122"/>
                <a:cs typeface="Arial" pitchFamily="34" charset="-120"/>
              </a:rPr>
              <a:t>266.998 s</a:t>
            </a:r>
            <a:endParaRPr lang="en-US" sz="1010" dirty="0"/>
          </a:p>
        </p:txBody>
      </p:sp>
      <p:sp>
        <p:nvSpPr>
          <p:cNvPr id="37" name="Shape 35"/>
          <p:cNvSpPr/>
          <p:nvPr/>
        </p:nvSpPr>
        <p:spPr>
          <a:xfrm>
            <a:off x="1764792" y="3401568"/>
            <a:ext cx="3843717" cy="448056"/>
          </a:xfrm>
          <a:prstGeom prst="rect">
            <a:avLst/>
          </a:prstGeom>
          <a:solidFill>
            <a:srgbClr val="204D5B"/>
          </a:solidFill>
          <a:ln w="12700">
            <a:solidFill>
              <a:srgbClr val="204D5B"/>
            </a:solidFill>
            <a:prstDash val="solid"/>
          </a:ln>
        </p:spPr>
      </p:sp>
      <p:sp>
        <p:nvSpPr>
          <p:cNvPr id="38" name="Shape 36"/>
          <p:cNvSpPr/>
          <p:nvPr/>
        </p:nvSpPr>
        <p:spPr>
          <a:xfrm>
            <a:off x="5608509" y="3401568"/>
            <a:ext cx="2675333" cy="448056"/>
          </a:xfrm>
          <a:prstGeom prst="rect">
            <a:avLst/>
          </a:prstGeom>
          <a:solidFill>
            <a:srgbClr val="D87E4B"/>
          </a:solidFill>
          <a:ln w="12700">
            <a:solidFill>
              <a:srgbClr val="D87E4B"/>
            </a:solidFill>
            <a:prstDash val="solid"/>
          </a:ln>
        </p:spPr>
      </p:sp>
      <p:sp>
        <p:nvSpPr>
          <p:cNvPr id="39" name="Shape 37"/>
          <p:cNvSpPr/>
          <p:nvPr/>
        </p:nvSpPr>
        <p:spPr>
          <a:xfrm>
            <a:off x="8283842" y="3401568"/>
            <a:ext cx="119494" cy="448056"/>
          </a:xfrm>
          <a:prstGeom prst="rect">
            <a:avLst/>
          </a:prstGeom>
          <a:solidFill>
            <a:srgbClr val="CBD6DA"/>
          </a:solidFill>
          <a:ln w="12700">
            <a:solidFill>
              <a:srgbClr val="CBD6DA"/>
            </a:solidFill>
            <a:prstDash val="solid"/>
          </a:ln>
        </p:spPr>
      </p:sp>
      <p:sp>
        <p:nvSpPr>
          <p:cNvPr id="40" name="Text 38"/>
          <p:cNvSpPr/>
          <p:nvPr/>
        </p:nvSpPr>
        <p:spPr>
          <a:xfrm>
            <a:off x="1883664" y="3511296"/>
            <a:ext cx="3615117" cy="182880"/>
          </a:xfrm>
          <a:prstGeom prst="rect">
            <a:avLst/>
          </a:prstGeom>
          <a:noFill/>
          <a:ln/>
        </p:spPr>
        <p:txBody>
          <a:bodyPr wrap="square" lIns="0" tIns="0" rIns="0" bIns="0" rtlCol="0" anchor="ctr">
            <a:normAutofit/>
          </a:bodyPr>
          <a:lstStyle/>
          <a:p>
            <a:pPr algn="ctr" indent="0" marL="0">
              <a:buNone/>
            </a:pPr>
            <a:r>
              <a:rPr lang="en-US" sz="1210" b="1" dirty="0">
                <a:solidFill>
                  <a:srgbClr val="FFFFFF"/>
                </a:solidFill>
                <a:latin typeface="Arial" pitchFamily="34" charset="0"/>
                <a:ea typeface="Arial" pitchFamily="34" charset="-122"/>
                <a:cs typeface="Arial" pitchFamily="34" charset="-120"/>
              </a:rPr>
              <a:t>57.9%</a:t>
            </a:r>
            <a:endParaRPr lang="en-US" sz="1210" dirty="0"/>
          </a:p>
        </p:txBody>
      </p:sp>
      <p:sp>
        <p:nvSpPr>
          <p:cNvPr id="41" name="Text 39"/>
          <p:cNvSpPr/>
          <p:nvPr/>
        </p:nvSpPr>
        <p:spPr>
          <a:xfrm>
            <a:off x="5672517" y="3511296"/>
            <a:ext cx="2538173" cy="182880"/>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40.3%</a:t>
            </a:r>
            <a:endParaRPr lang="en-US" sz="1150" dirty="0"/>
          </a:p>
        </p:txBody>
      </p:sp>
      <p:sp>
        <p:nvSpPr>
          <p:cNvPr id="42" name="Shape 40"/>
          <p:cNvSpPr/>
          <p:nvPr/>
        </p:nvSpPr>
        <p:spPr>
          <a:xfrm>
            <a:off x="2011680" y="4096512"/>
            <a:ext cx="128016" cy="118872"/>
          </a:xfrm>
          <a:prstGeom prst="rect">
            <a:avLst/>
          </a:prstGeom>
          <a:solidFill>
            <a:srgbClr val="204D5B"/>
          </a:solidFill>
          <a:ln w="12700">
            <a:solidFill>
              <a:srgbClr val="204D5B"/>
            </a:solidFill>
            <a:prstDash val="solid"/>
          </a:ln>
        </p:spPr>
      </p:sp>
      <p:sp>
        <p:nvSpPr>
          <p:cNvPr id="43" name="Text 41"/>
          <p:cNvSpPr/>
          <p:nvPr/>
        </p:nvSpPr>
        <p:spPr>
          <a:xfrm>
            <a:off x="2212848" y="4064508"/>
            <a:ext cx="1536192" cy="210312"/>
          </a:xfrm>
          <a:prstGeom prst="rect">
            <a:avLst/>
          </a:prstGeom>
          <a:noFill/>
          <a:ln/>
        </p:spPr>
        <p:txBody>
          <a:bodyPr wrap="square" lIns="0" tIns="0" rIns="0" bIns="0" rtlCol="0" anchor="ctr">
            <a:normAutofit/>
          </a:bodyPr>
          <a:lstStyle/>
          <a:p>
            <a:pPr indent="0" marL="0">
              <a:buNone/>
            </a:pPr>
            <a:r>
              <a:rPr lang="en-US" sz="910" dirty="0">
                <a:solidFill>
                  <a:srgbClr val="5B6871"/>
                </a:solidFill>
                <a:latin typeface="Arial" pitchFamily="34" charset="0"/>
                <a:ea typeface="Arial" pitchFamily="34" charset="-122"/>
                <a:cs typeface="Arial" pitchFamily="34" charset="-120"/>
              </a:rPr>
              <a:t>Call generation</a:t>
            </a:r>
            <a:endParaRPr lang="en-US" sz="910" dirty="0"/>
          </a:p>
        </p:txBody>
      </p:sp>
      <p:sp>
        <p:nvSpPr>
          <p:cNvPr id="44" name="Shape 42"/>
          <p:cNvSpPr/>
          <p:nvPr/>
        </p:nvSpPr>
        <p:spPr>
          <a:xfrm>
            <a:off x="4069080" y="4096512"/>
            <a:ext cx="128016" cy="118872"/>
          </a:xfrm>
          <a:prstGeom prst="rect">
            <a:avLst/>
          </a:prstGeom>
          <a:solidFill>
            <a:srgbClr val="D87E4B"/>
          </a:solidFill>
          <a:ln w="12700">
            <a:solidFill>
              <a:srgbClr val="D87E4B"/>
            </a:solidFill>
            <a:prstDash val="solid"/>
          </a:ln>
        </p:spPr>
      </p:sp>
      <p:sp>
        <p:nvSpPr>
          <p:cNvPr id="45" name="Text 43"/>
          <p:cNvSpPr/>
          <p:nvPr/>
        </p:nvSpPr>
        <p:spPr>
          <a:xfrm>
            <a:off x="4270248" y="4064508"/>
            <a:ext cx="1965960" cy="210312"/>
          </a:xfrm>
          <a:prstGeom prst="rect">
            <a:avLst/>
          </a:prstGeom>
          <a:noFill/>
          <a:ln/>
        </p:spPr>
        <p:txBody>
          <a:bodyPr wrap="square" lIns="0" tIns="0" rIns="0" bIns="0" rtlCol="0" anchor="ctr">
            <a:normAutofit/>
          </a:bodyPr>
          <a:lstStyle/>
          <a:p>
            <a:pPr indent="0" marL="0">
              <a:buNone/>
            </a:pPr>
            <a:r>
              <a:rPr lang="en-US" sz="910" dirty="0">
                <a:solidFill>
                  <a:srgbClr val="5B6871"/>
                </a:solidFill>
                <a:latin typeface="Arial" pitchFamily="34" charset="0"/>
                <a:ea typeface="Arial" pitchFamily="34" charset="-122"/>
                <a:cs typeface="Arial" pitchFamily="34" charset="-120"/>
              </a:rPr>
              <a:t>Post-tool generation</a:t>
            </a:r>
            <a:endParaRPr lang="en-US" sz="910" dirty="0"/>
          </a:p>
        </p:txBody>
      </p:sp>
      <p:sp>
        <p:nvSpPr>
          <p:cNvPr id="46" name="Shape 44"/>
          <p:cNvSpPr/>
          <p:nvPr/>
        </p:nvSpPr>
        <p:spPr>
          <a:xfrm>
            <a:off x="6556248" y="4096512"/>
            <a:ext cx="128016" cy="118872"/>
          </a:xfrm>
          <a:prstGeom prst="rect">
            <a:avLst/>
          </a:prstGeom>
          <a:solidFill>
            <a:srgbClr val="CBD6DA"/>
          </a:solidFill>
          <a:ln w="12700">
            <a:solidFill>
              <a:srgbClr val="CBD6DA"/>
            </a:solidFill>
            <a:prstDash val="solid"/>
          </a:ln>
        </p:spPr>
      </p:sp>
      <p:sp>
        <p:nvSpPr>
          <p:cNvPr id="47" name="Text 45"/>
          <p:cNvSpPr/>
          <p:nvPr/>
        </p:nvSpPr>
        <p:spPr>
          <a:xfrm>
            <a:off x="6757416" y="4064508"/>
            <a:ext cx="1170432" cy="210312"/>
          </a:xfrm>
          <a:prstGeom prst="rect">
            <a:avLst/>
          </a:prstGeom>
          <a:noFill/>
          <a:ln/>
        </p:spPr>
        <p:txBody>
          <a:bodyPr wrap="square" lIns="0" tIns="0" rIns="0" bIns="0" rtlCol="0" anchor="ctr">
            <a:normAutofit/>
          </a:bodyPr>
          <a:lstStyle/>
          <a:p>
            <a:pPr indent="0" marL="0">
              <a:buNone/>
            </a:pPr>
            <a:r>
              <a:rPr lang="en-US" sz="910" dirty="0">
                <a:solidFill>
                  <a:srgbClr val="5B6871"/>
                </a:solidFill>
                <a:latin typeface="Arial" pitchFamily="34" charset="0"/>
                <a:ea typeface="Arial" pitchFamily="34" charset="-122"/>
                <a:cs typeface="Arial" pitchFamily="34" charset="-120"/>
              </a:rPr>
              <a:t>Residual</a:t>
            </a:r>
            <a:endParaRPr lang="en-US" sz="910" dirty="0"/>
          </a:p>
        </p:txBody>
      </p:sp>
      <p:sp>
        <p:nvSpPr>
          <p:cNvPr id="48" name="Text 46"/>
          <p:cNvSpPr/>
          <p:nvPr/>
        </p:nvSpPr>
        <p:spPr>
          <a:xfrm>
            <a:off x="621792" y="4517136"/>
            <a:ext cx="8028432" cy="173736"/>
          </a:xfrm>
          <a:prstGeom prst="rect">
            <a:avLst/>
          </a:prstGeom>
          <a:noFill/>
          <a:ln/>
        </p:spPr>
        <p:txBody>
          <a:bodyPr wrap="square" lIns="0" tIns="0" rIns="0" bIns="0" rtlCol="0" anchor="ctr">
            <a:normAutofit/>
          </a:bodyPr>
          <a:lstStyle/>
          <a:p>
            <a:pPr algn="ctr" indent="0" marL="0">
              <a:buNone/>
            </a:pPr>
            <a:r>
              <a:rPr lang="en-US" sz="1200" b="1" dirty="0">
                <a:solidFill>
                  <a:srgbClr val="106E90"/>
                </a:solidFill>
                <a:latin typeface="Arial" pitchFamily="34" charset="0"/>
                <a:ea typeface="Arial" pitchFamily="34" charset="-122"/>
                <a:cs typeface="Arial" pitchFamily="34" charset="-120"/>
              </a:rPr>
              <a:t>Post-tool work stayed expensive even after the useful action was done.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01752"/>
            <a:ext cx="8138160" cy="393192"/>
          </a:xfrm>
          <a:prstGeom prst="rect">
            <a:avLst/>
          </a:prstGeom>
          <a:noFill/>
          <a:ln/>
        </p:spPr>
        <p:txBody>
          <a:bodyPr wrap="square" lIns="0" tIns="0" rIns="0" bIns="0" rtlCol="0" anchor="ctr">
            <a:normAutofit/>
          </a:bodyPr>
          <a:lstStyle/>
          <a:p>
            <a:pPr indent="0" marL="0">
              <a:buNone/>
            </a:pPr>
            <a:r>
              <a:rPr lang="en-US" sz="2400" b="1" dirty="0">
                <a:solidFill>
                  <a:srgbClr val="1D252B"/>
                </a:solidFill>
                <a:latin typeface="Arial" pitchFamily="34" charset="0"/>
                <a:ea typeface="Arial" pitchFamily="34" charset="-122"/>
                <a:cs typeface="Arial" pitchFamily="34" charset="-120"/>
              </a:rPr>
              <a:t>GPT-OSS: align the Harmony state</a:t>
            </a:r>
            <a:endParaRPr lang="en-US" sz="2400" dirty="0"/>
          </a:p>
        </p:txBody>
      </p:sp>
      <p:sp>
        <p:nvSpPr>
          <p:cNvPr id="3" name="Shape 1"/>
          <p:cNvSpPr/>
          <p:nvPr/>
        </p:nvSpPr>
        <p:spPr>
          <a:xfrm>
            <a:off x="502920" y="932688"/>
            <a:ext cx="8138160" cy="0"/>
          </a:xfrm>
          <a:prstGeom prst="line">
            <a:avLst/>
          </a:prstGeom>
          <a:noFill/>
          <a:ln w="27940">
            <a:solidFill>
              <a:srgbClr val="FFDF3C"/>
            </a:solidFill>
            <a:prstDash val="solid"/>
          </a:ln>
        </p:spPr>
      </p:sp>
      <p:sp>
        <p:nvSpPr>
          <p:cNvPr id="4" name="Text 2"/>
          <p:cNvSpPr/>
          <p:nvPr/>
        </p:nvSpPr>
        <p:spPr>
          <a:xfrm>
            <a:off x="521208" y="1014984"/>
            <a:ext cx="8138160" cy="274320"/>
          </a:xfrm>
          <a:prstGeom prst="rect">
            <a:avLst/>
          </a:prstGeom>
          <a:noFill/>
          <a:ln/>
        </p:spPr>
        <p:txBody>
          <a:bodyPr wrap="square" lIns="0" tIns="0" rIns="0" bIns="0" rtlCol="0" anchor="ctr">
            <a:normAutofit/>
          </a:bodyPr>
          <a:lstStyle/>
          <a:p>
            <a:pPr indent="0" marL="0">
              <a:buNone/>
            </a:pPr>
            <a:r>
              <a:rPr lang="en-US" sz="1070" dirty="0">
                <a:solidFill>
                  <a:srgbClr val="5B6871"/>
                </a:solidFill>
                <a:latin typeface="Arial" pitchFamily="34" charset="0"/>
                <a:ea typeface="Arial" pitchFamily="34" charset="-122"/>
                <a:cs typeface="Arial" pitchFamily="34" charset="-120"/>
              </a:rPr>
              <a:t>The format mattered more than saying “be fast”.</a:t>
            </a:r>
            <a:endParaRPr lang="en-US" sz="1070" dirty="0"/>
          </a:p>
        </p:txBody>
      </p:sp>
      <p:sp>
        <p:nvSpPr>
          <p:cNvPr id="5" name="Text 3"/>
          <p:cNvSpPr/>
          <p:nvPr/>
        </p:nvSpPr>
        <p:spPr>
          <a:xfrm>
            <a:off x="475488" y="4800600"/>
            <a:ext cx="914400" cy="228600"/>
          </a:xfrm>
          <a:prstGeom prst="rect">
            <a:avLst/>
          </a:prstGeom>
          <a:noFill/>
          <a:ln/>
        </p:spPr>
        <p:txBody>
          <a:bodyPr wrap="square" lIns="0" tIns="0" rIns="0" bIns="0" rtlCol="0" anchor="ctr">
            <a:normAutofit/>
          </a:bodyPr>
          <a:lstStyle/>
          <a:p>
            <a:pPr indent="0" marL="0">
              <a:buNone/>
            </a:pPr>
            <a:r>
              <a:rPr lang="en-US" sz="1250" b="1" dirty="0">
                <a:solidFill>
                  <a:srgbClr val="24B6E6"/>
                </a:solidFill>
                <a:latin typeface="Arial" pitchFamily="34" charset="0"/>
                <a:ea typeface="Arial" pitchFamily="34" charset="-122"/>
                <a:cs typeface="Arial" pitchFamily="34" charset="-120"/>
              </a:rPr>
              <a:t>kaggle</a:t>
            </a:r>
            <a:endParaRPr lang="en-US" sz="1250" dirty="0"/>
          </a:p>
        </p:txBody>
      </p:sp>
      <p:sp>
        <p:nvSpPr>
          <p:cNvPr id="6" name="Text 4"/>
          <p:cNvSpPr/>
          <p:nvPr/>
        </p:nvSpPr>
        <p:spPr>
          <a:xfrm>
            <a:off x="5577840" y="4828032"/>
            <a:ext cx="2834640" cy="146304"/>
          </a:xfrm>
          <a:prstGeom prst="rect">
            <a:avLst/>
          </a:prstGeom>
          <a:noFill/>
          <a:ln/>
        </p:spPr>
        <p:txBody>
          <a:bodyPr wrap="square" lIns="0" tIns="0" rIns="0" bIns="0" rtlCol="0" anchor="ctr">
            <a:normAutofit/>
          </a:bodyPr>
          <a:lstStyle/>
          <a:p>
            <a:pPr algn="r" indent="0" marL="0">
              <a:buNone/>
            </a:pPr>
            <a:r>
              <a:rPr lang="en-US" sz="670" dirty="0">
                <a:solidFill>
                  <a:srgbClr val="89959C"/>
                </a:solidFill>
                <a:latin typeface="Arial" pitchFamily="34" charset="0"/>
                <a:ea typeface="Arial" pitchFamily="34" charset="-122"/>
                <a:cs typeface="Arial" pitchFamily="34" charset="-120"/>
              </a:rPr>
              <a:t>Giovanny Rodríguez  /  AI Agent Security</a:t>
            </a:r>
            <a:endParaRPr lang="en-US" sz="670" dirty="0"/>
          </a:p>
        </p:txBody>
      </p:sp>
      <p:sp>
        <p:nvSpPr>
          <p:cNvPr id="7" name="Text 5"/>
          <p:cNvSpPr/>
          <p:nvPr/>
        </p:nvSpPr>
        <p:spPr>
          <a:xfrm>
            <a:off x="8622792" y="4800600"/>
            <a:ext cx="155448" cy="182880"/>
          </a:xfrm>
          <a:prstGeom prst="rect">
            <a:avLst/>
          </a:prstGeom>
          <a:noFill/>
          <a:ln/>
        </p:spPr>
        <p:txBody>
          <a:bodyPr wrap="square" lIns="0" tIns="0" rIns="0" bIns="0" rtlCol="0" anchor="ctr">
            <a:normAutofit/>
          </a:bodyPr>
          <a:lstStyle/>
          <a:p>
            <a:pPr algn="r" indent="0" marL="0">
              <a:buNone/>
            </a:pPr>
            <a:r>
              <a:rPr lang="en-US" sz="820" dirty="0">
                <a:solidFill>
                  <a:srgbClr val="89959C"/>
                </a:solidFill>
                <a:latin typeface="Arial" pitchFamily="34" charset="0"/>
                <a:ea typeface="Arial" pitchFamily="34" charset="-122"/>
                <a:cs typeface="Arial" pitchFamily="34" charset="-120"/>
              </a:rPr>
              <a:t>4</a:t>
            </a:r>
            <a:endParaRPr lang="en-US" sz="820" dirty="0"/>
          </a:p>
        </p:txBody>
      </p:sp>
      <p:sp>
        <p:nvSpPr>
          <p:cNvPr id="8" name="Shape 6"/>
          <p:cNvSpPr/>
          <p:nvPr/>
        </p:nvSpPr>
        <p:spPr>
          <a:xfrm>
            <a:off x="530352" y="1371600"/>
            <a:ext cx="1883664" cy="822960"/>
          </a:xfrm>
          <a:prstGeom prst="roundRect">
            <a:avLst>
              <a:gd name="adj" fmla="val 10000"/>
            </a:avLst>
          </a:prstGeom>
          <a:solidFill>
            <a:srgbClr val="F6F8FA"/>
          </a:solidFill>
          <a:ln w="8890">
            <a:solidFill>
              <a:srgbClr val="DFE5E9"/>
            </a:solidFill>
            <a:prstDash val="solid"/>
          </a:ln>
        </p:spPr>
      </p:sp>
      <p:sp>
        <p:nvSpPr>
          <p:cNvPr id="9" name="Text 7"/>
          <p:cNvSpPr/>
          <p:nvPr/>
        </p:nvSpPr>
        <p:spPr>
          <a:xfrm>
            <a:off x="621792" y="1517904"/>
            <a:ext cx="1691640" cy="182880"/>
          </a:xfrm>
          <a:prstGeom prst="rect">
            <a:avLst/>
          </a:prstGeom>
          <a:noFill/>
          <a:ln/>
        </p:spPr>
        <p:txBody>
          <a:bodyPr wrap="square" lIns="0" tIns="0" rIns="0" bIns="0" rtlCol="0" anchor="ctr">
            <a:normAutofit/>
          </a:bodyPr>
          <a:lstStyle/>
          <a:p>
            <a:pPr algn="ctr" indent="0" marL="0">
              <a:buNone/>
            </a:pPr>
            <a:r>
              <a:rPr lang="en-US" sz="1240" b="1" dirty="0">
                <a:solidFill>
                  <a:srgbClr val="1D252B"/>
                </a:solidFill>
                <a:latin typeface="Arial" pitchFamily="34" charset="0"/>
                <a:ea typeface="Arial" pitchFamily="34" charset="-122"/>
                <a:cs typeface="Arial" pitchFamily="34" charset="-120"/>
              </a:rPr>
              <a:t>User text</a:t>
            </a:r>
            <a:endParaRPr lang="en-US" sz="1240" dirty="0"/>
          </a:p>
        </p:txBody>
      </p:sp>
      <p:sp>
        <p:nvSpPr>
          <p:cNvPr id="10" name="Text 8"/>
          <p:cNvSpPr/>
          <p:nvPr/>
        </p:nvSpPr>
        <p:spPr>
          <a:xfrm>
            <a:off x="621792" y="1783080"/>
            <a:ext cx="1691640" cy="155448"/>
          </a:xfrm>
          <a:prstGeom prst="rect">
            <a:avLst/>
          </a:prstGeom>
          <a:noFill/>
          <a:ln/>
        </p:spPr>
        <p:txBody>
          <a:bodyPr wrap="square" lIns="0" tIns="0" rIns="0" bIns="0" rtlCol="0" anchor="ctr">
            <a:normAutofit/>
          </a:bodyPr>
          <a:lstStyle/>
          <a:p>
            <a:pPr algn="ctr" indent="0" marL="0">
              <a:buNone/>
            </a:pPr>
            <a:r>
              <a:rPr lang="en-US" sz="1000" dirty="0">
                <a:solidFill>
                  <a:srgbClr val="5B6871"/>
                </a:solidFill>
                <a:latin typeface="Arial" pitchFamily="34" charset="0"/>
                <a:ea typeface="Arial" pitchFamily="34" charset="-122"/>
                <a:cs typeface="Arial" pitchFamily="34" charset="-120"/>
              </a:rPr>
              <a:t>synthetic state</a:t>
            </a:r>
            <a:endParaRPr lang="en-US" sz="1000" dirty="0"/>
          </a:p>
        </p:txBody>
      </p:sp>
      <p:sp>
        <p:nvSpPr>
          <p:cNvPr id="11" name="Text 9"/>
          <p:cNvSpPr/>
          <p:nvPr/>
        </p:nvSpPr>
        <p:spPr>
          <a:xfrm>
            <a:off x="2423160" y="1673352"/>
            <a:ext cx="192024" cy="182880"/>
          </a:xfrm>
          <a:prstGeom prst="rect">
            <a:avLst/>
          </a:prstGeom>
          <a:noFill/>
          <a:ln/>
        </p:spPr>
        <p:txBody>
          <a:bodyPr wrap="square" lIns="0" tIns="0" rIns="0" bIns="0" rtlCol="0" anchor="ctr">
            <a:normAutofit/>
          </a:bodyPr>
          <a:lstStyle/>
          <a:p>
            <a:pPr algn="ctr" indent="0" marL="0">
              <a:buNone/>
            </a:pPr>
            <a:r>
              <a:rPr lang="en-US" sz="1400" b="1" dirty="0">
                <a:solidFill>
                  <a:srgbClr val="24B6E6"/>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2642616" y="1371600"/>
            <a:ext cx="1883664" cy="822960"/>
          </a:xfrm>
          <a:prstGeom prst="roundRect">
            <a:avLst>
              <a:gd name="adj" fmla="val 10000"/>
            </a:avLst>
          </a:prstGeom>
          <a:solidFill>
            <a:srgbClr val="F6F8FA"/>
          </a:solidFill>
          <a:ln w="8890">
            <a:solidFill>
              <a:srgbClr val="DFE5E9"/>
            </a:solidFill>
            <a:prstDash val="solid"/>
          </a:ln>
        </p:spPr>
      </p:sp>
      <p:sp>
        <p:nvSpPr>
          <p:cNvPr id="13" name="Text 11"/>
          <p:cNvSpPr/>
          <p:nvPr/>
        </p:nvSpPr>
        <p:spPr>
          <a:xfrm>
            <a:off x="2734056" y="1517904"/>
            <a:ext cx="1691640" cy="182880"/>
          </a:xfrm>
          <a:prstGeom prst="rect">
            <a:avLst/>
          </a:prstGeom>
          <a:noFill/>
          <a:ln/>
        </p:spPr>
        <p:txBody>
          <a:bodyPr wrap="square" lIns="0" tIns="0" rIns="0" bIns="0" rtlCol="0" anchor="ctr">
            <a:normAutofit/>
          </a:bodyPr>
          <a:lstStyle/>
          <a:p>
            <a:pPr algn="ctr" indent="0" marL="0">
              <a:buNone/>
            </a:pPr>
            <a:r>
              <a:rPr lang="en-US" sz="1240" b="1" dirty="0">
                <a:solidFill>
                  <a:srgbClr val="1D252B"/>
                </a:solidFill>
                <a:latin typeface="Arial" pitchFamily="34" charset="0"/>
                <a:ea typeface="Arial" pitchFamily="34" charset="-122"/>
                <a:cs typeface="Arial" pitchFamily="34" charset="-120"/>
              </a:rPr>
              <a:t>Analysis boundary</a:t>
            </a:r>
            <a:endParaRPr lang="en-US" sz="1240" dirty="0"/>
          </a:p>
        </p:txBody>
      </p:sp>
      <p:sp>
        <p:nvSpPr>
          <p:cNvPr id="14" name="Text 12"/>
          <p:cNvSpPr/>
          <p:nvPr/>
        </p:nvSpPr>
        <p:spPr>
          <a:xfrm>
            <a:off x="2734056" y="1783080"/>
            <a:ext cx="1691640" cy="155448"/>
          </a:xfrm>
          <a:prstGeom prst="rect">
            <a:avLst/>
          </a:prstGeom>
          <a:noFill/>
          <a:ln/>
        </p:spPr>
        <p:txBody>
          <a:bodyPr wrap="square" lIns="0" tIns="0" rIns="0" bIns="0" rtlCol="0" anchor="ctr">
            <a:normAutofit/>
          </a:bodyPr>
          <a:lstStyle/>
          <a:p>
            <a:pPr algn="ctr" indent="0" marL="0">
              <a:buNone/>
            </a:pPr>
            <a:r>
              <a:rPr lang="en-US" sz="1000" dirty="0">
                <a:solidFill>
                  <a:srgbClr val="5B6871"/>
                </a:solidFill>
                <a:latin typeface="Arial" pitchFamily="34" charset="0"/>
                <a:ea typeface="Arial" pitchFamily="34" charset="-122"/>
                <a:cs typeface="Arial" pitchFamily="34" charset="-120"/>
              </a:rPr>
              <a:t>close state</a:t>
            </a:r>
            <a:endParaRPr lang="en-US" sz="1000" dirty="0"/>
          </a:p>
        </p:txBody>
      </p:sp>
      <p:sp>
        <p:nvSpPr>
          <p:cNvPr id="15" name="Text 13"/>
          <p:cNvSpPr/>
          <p:nvPr/>
        </p:nvSpPr>
        <p:spPr>
          <a:xfrm>
            <a:off x="4535424" y="1673352"/>
            <a:ext cx="192024" cy="182880"/>
          </a:xfrm>
          <a:prstGeom prst="rect">
            <a:avLst/>
          </a:prstGeom>
          <a:noFill/>
          <a:ln/>
        </p:spPr>
        <p:txBody>
          <a:bodyPr wrap="square" lIns="0" tIns="0" rIns="0" bIns="0" rtlCol="0" anchor="ctr">
            <a:normAutofit/>
          </a:bodyPr>
          <a:lstStyle/>
          <a:p>
            <a:pPr algn="ctr" indent="0" marL="0">
              <a:buNone/>
            </a:pPr>
            <a:r>
              <a:rPr lang="en-US" sz="1400" b="1" dirty="0">
                <a:solidFill>
                  <a:srgbClr val="24B6E6"/>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4754880" y="1371600"/>
            <a:ext cx="1883664" cy="822960"/>
          </a:xfrm>
          <a:prstGeom prst="roundRect">
            <a:avLst>
              <a:gd name="adj" fmla="val 10000"/>
            </a:avLst>
          </a:prstGeom>
          <a:solidFill>
            <a:srgbClr val="EFF9FC"/>
          </a:solidFill>
          <a:ln w="8890">
            <a:solidFill>
              <a:srgbClr val="A4DBE9"/>
            </a:solidFill>
            <a:prstDash val="solid"/>
          </a:ln>
        </p:spPr>
      </p:sp>
      <p:sp>
        <p:nvSpPr>
          <p:cNvPr id="17" name="Text 15"/>
          <p:cNvSpPr/>
          <p:nvPr/>
        </p:nvSpPr>
        <p:spPr>
          <a:xfrm>
            <a:off x="4846320" y="1517904"/>
            <a:ext cx="1691640" cy="182880"/>
          </a:xfrm>
          <a:prstGeom prst="rect">
            <a:avLst/>
          </a:prstGeom>
          <a:noFill/>
          <a:ln/>
        </p:spPr>
        <p:txBody>
          <a:bodyPr wrap="square" lIns="0" tIns="0" rIns="0" bIns="0" rtlCol="0" anchor="ctr">
            <a:normAutofit/>
          </a:bodyPr>
          <a:lstStyle/>
          <a:p>
            <a:pPr algn="ctr" indent="0" marL="0">
              <a:buNone/>
            </a:pPr>
            <a:r>
              <a:rPr lang="en-US" sz="1240" b="1" dirty="0">
                <a:solidFill>
                  <a:srgbClr val="1D252B"/>
                </a:solidFill>
                <a:latin typeface="Arial" pitchFamily="34" charset="0"/>
                <a:ea typeface="Arial" pitchFamily="34" charset="-122"/>
                <a:cs typeface="Arial" pitchFamily="34" charset="-120"/>
              </a:rPr>
              <a:t>Commentary output</a:t>
            </a:r>
            <a:endParaRPr lang="en-US" sz="1240" dirty="0"/>
          </a:p>
        </p:txBody>
      </p:sp>
      <p:sp>
        <p:nvSpPr>
          <p:cNvPr id="18" name="Text 16"/>
          <p:cNvSpPr/>
          <p:nvPr/>
        </p:nvSpPr>
        <p:spPr>
          <a:xfrm>
            <a:off x="4846320" y="1783080"/>
            <a:ext cx="1691640" cy="155448"/>
          </a:xfrm>
          <a:prstGeom prst="rect">
            <a:avLst/>
          </a:prstGeom>
          <a:noFill/>
          <a:ln/>
        </p:spPr>
        <p:txBody>
          <a:bodyPr wrap="square" lIns="0" tIns="0" rIns="0" bIns="0" rtlCol="0" anchor="ctr">
            <a:normAutofit/>
          </a:bodyPr>
          <a:lstStyle/>
          <a:p>
            <a:pPr algn="ctr" indent="0" marL="0">
              <a:buNone/>
            </a:pPr>
            <a:r>
              <a:rPr lang="en-US" sz="1000" dirty="0">
                <a:solidFill>
                  <a:srgbClr val="5B6871"/>
                </a:solidFill>
                <a:latin typeface="Arial" pitchFamily="34" charset="0"/>
                <a:ea typeface="Arial" pitchFamily="34" charset="-122"/>
                <a:cs typeface="Arial" pitchFamily="34" charset="-120"/>
              </a:rPr>
              <a:t>valid tool call</a:t>
            </a:r>
            <a:endParaRPr lang="en-US" sz="1000" dirty="0"/>
          </a:p>
        </p:txBody>
      </p:sp>
      <p:sp>
        <p:nvSpPr>
          <p:cNvPr id="19" name="Text 17"/>
          <p:cNvSpPr/>
          <p:nvPr/>
        </p:nvSpPr>
        <p:spPr>
          <a:xfrm>
            <a:off x="6647688" y="1673352"/>
            <a:ext cx="192024" cy="182880"/>
          </a:xfrm>
          <a:prstGeom prst="rect">
            <a:avLst/>
          </a:prstGeom>
          <a:noFill/>
          <a:ln/>
        </p:spPr>
        <p:txBody>
          <a:bodyPr wrap="square" lIns="0" tIns="0" rIns="0" bIns="0" rtlCol="0" anchor="ctr">
            <a:normAutofit/>
          </a:bodyPr>
          <a:lstStyle/>
          <a:p>
            <a:pPr algn="ctr" indent="0" marL="0">
              <a:buNone/>
            </a:pPr>
            <a:r>
              <a:rPr lang="en-US" sz="1400" b="1" dirty="0">
                <a:solidFill>
                  <a:srgbClr val="24B6E6"/>
                </a:solidFill>
                <a:latin typeface="Arial" pitchFamily="34" charset="0"/>
                <a:ea typeface="Arial" pitchFamily="34" charset="-122"/>
                <a:cs typeface="Arial" pitchFamily="34" charset="-120"/>
              </a:rPr>
              <a:t>→</a:t>
            </a:r>
            <a:endParaRPr lang="en-US" sz="1400" dirty="0"/>
          </a:p>
        </p:txBody>
      </p:sp>
      <p:sp>
        <p:nvSpPr>
          <p:cNvPr id="20" name="Shape 18"/>
          <p:cNvSpPr/>
          <p:nvPr/>
        </p:nvSpPr>
        <p:spPr>
          <a:xfrm>
            <a:off x="6867144" y="1371600"/>
            <a:ext cx="1883664" cy="822960"/>
          </a:xfrm>
          <a:prstGeom prst="roundRect">
            <a:avLst>
              <a:gd name="adj" fmla="val 10000"/>
            </a:avLst>
          </a:prstGeom>
          <a:solidFill>
            <a:srgbClr val="F6F8FA"/>
          </a:solidFill>
          <a:ln w="8890">
            <a:solidFill>
              <a:srgbClr val="DFE5E9"/>
            </a:solidFill>
            <a:prstDash val="solid"/>
          </a:ln>
        </p:spPr>
      </p:sp>
      <p:sp>
        <p:nvSpPr>
          <p:cNvPr id="21" name="Text 19"/>
          <p:cNvSpPr/>
          <p:nvPr/>
        </p:nvSpPr>
        <p:spPr>
          <a:xfrm>
            <a:off x="6958584" y="1517904"/>
            <a:ext cx="1691640" cy="182880"/>
          </a:xfrm>
          <a:prstGeom prst="rect">
            <a:avLst/>
          </a:prstGeom>
          <a:noFill/>
          <a:ln/>
        </p:spPr>
        <p:txBody>
          <a:bodyPr wrap="square" lIns="0" tIns="0" rIns="0" bIns="0" rtlCol="0" anchor="ctr">
            <a:normAutofit/>
          </a:bodyPr>
          <a:lstStyle/>
          <a:p>
            <a:pPr algn="ctr" indent="0" marL="0">
              <a:buNone/>
            </a:pPr>
            <a:r>
              <a:rPr lang="en-US" sz="1240" b="1" dirty="0">
                <a:solidFill>
                  <a:srgbClr val="1D252B"/>
                </a:solidFill>
                <a:latin typeface="Arial" pitchFamily="34" charset="0"/>
                <a:ea typeface="Arial" pitchFamily="34" charset="-122"/>
                <a:cs typeface="Arial" pitchFamily="34" charset="-120"/>
              </a:rPr>
              <a:t>Runtime history</a:t>
            </a:r>
            <a:endParaRPr lang="en-US" sz="1240" dirty="0"/>
          </a:p>
        </p:txBody>
      </p:sp>
      <p:sp>
        <p:nvSpPr>
          <p:cNvPr id="22" name="Text 20"/>
          <p:cNvSpPr/>
          <p:nvPr/>
        </p:nvSpPr>
        <p:spPr>
          <a:xfrm>
            <a:off x="6958584" y="1783080"/>
            <a:ext cx="1691640" cy="155448"/>
          </a:xfrm>
          <a:prstGeom prst="rect">
            <a:avLst/>
          </a:prstGeom>
          <a:noFill/>
          <a:ln/>
        </p:spPr>
        <p:txBody>
          <a:bodyPr wrap="square" lIns="0" tIns="0" rIns="0" bIns="0" rtlCol="0" anchor="ctr">
            <a:normAutofit/>
          </a:bodyPr>
          <a:lstStyle/>
          <a:p>
            <a:pPr algn="ctr" indent="0" marL="0">
              <a:buNone/>
            </a:pPr>
            <a:r>
              <a:rPr lang="en-US" sz="1000" dirty="0">
                <a:solidFill>
                  <a:srgbClr val="5B6871"/>
                </a:solidFill>
                <a:latin typeface="Arial" pitchFamily="34" charset="0"/>
                <a:ea typeface="Arial" pitchFamily="34" charset="-122"/>
                <a:cs typeface="Arial" pitchFamily="34" charset="-120"/>
              </a:rPr>
              <a:t>final response</a:t>
            </a:r>
            <a:endParaRPr lang="en-US" sz="1000" dirty="0"/>
          </a:p>
        </p:txBody>
      </p:sp>
      <p:sp>
        <p:nvSpPr>
          <p:cNvPr id="23" name="Shape 21"/>
          <p:cNvSpPr/>
          <p:nvPr/>
        </p:nvSpPr>
        <p:spPr>
          <a:xfrm>
            <a:off x="539496" y="2441448"/>
            <a:ext cx="2743200" cy="1307592"/>
          </a:xfrm>
          <a:prstGeom prst="roundRect">
            <a:avLst>
              <a:gd name="adj" fmla="val 6294"/>
            </a:avLst>
          </a:prstGeom>
          <a:solidFill>
            <a:srgbClr val="EFF9FC"/>
          </a:solidFill>
          <a:ln w="8890">
            <a:solidFill>
              <a:srgbClr val="DFE5E9"/>
            </a:solidFill>
            <a:prstDash val="solid"/>
          </a:ln>
        </p:spPr>
      </p:sp>
      <p:sp>
        <p:nvSpPr>
          <p:cNvPr id="24" name="Text 22"/>
          <p:cNvSpPr/>
          <p:nvPr/>
        </p:nvSpPr>
        <p:spPr>
          <a:xfrm>
            <a:off x="685800" y="2578608"/>
            <a:ext cx="2468880" cy="155448"/>
          </a:xfrm>
          <a:prstGeom prst="rect">
            <a:avLst/>
          </a:prstGeom>
          <a:noFill/>
          <a:ln/>
        </p:spPr>
        <p:txBody>
          <a:bodyPr wrap="square" lIns="0" tIns="0" rIns="0" bIns="0" rtlCol="0" anchor="ctr">
            <a:normAutofit/>
          </a:bodyPr>
          <a:lstStyle/>
          <a:p>
            <a:pPr indent="0" marL="0">
              <a:buNone/>
            </a:pPr>
            <a:r>
              <a:rPr lang="en-US" sz="870" b="1" dirty="0">
                <a:solidFill>
                  <a:srgbClr val="106E90"/>
                </a:solidFill>
                <a:latin typeface="Arial" pitchFamily="34" charset="0"/>
                <a:ea typeface="Arial" pitchFamily="34" charset="-122"/>
                <a:cs typeface="Arial" pitchFamily="34" charset="-120"/>
              </a:rPr>
              <a:t>WHAT CHANGED</a:t>
            </a:r>
            <a:endParaRPr lang="en-US" sz="870" dirty="0"/>
          </a:p>
        </p:txBody>
      </p:sp>
      <p:sp>
        <p:nvSpPr>
          <p:cNvPr id="25" name="Text 23"/>
          <p:cNvSpPr/>
          <p:nvPr/>
        </p:nvSpPr>
        <p:spPr>
          <a:xfrm>
            <a:off x="685800" y="2816352"/>
            <a:ext cx="2468880" cy="274320"/>
          </a:xfrm>
          <a:prstGeom prst="rect">
            <a:avLst/>
          </a:prstGeom>
          <a:noFill/>
          <a:ln/>
        </p:spPr>
        <p:txBody>
          <a:bodyPr wrap="square" lIns="0" tIns="0" rIns="0" bIns="0" rtlCol="0" anchor="ctr">
            <a:normAutofit/>
          </a:bodyPr>
          <a:lstStyle/>
          <a:p>
            <a:pPr indent="0" marL="0">
              <a:buNone/>
            </a:pPr>
            <a:r>
              <a:rPr lang="en-US" sz="1410" b="1" dirty="0">
                <a:solidFill>
                  <a:srgbClr val="1D252B"/>
                </a:solidFill>
                <a:latin typeface="Arial" pitchFamily="34" charset="0"/>
                <a:ea typeface="Arial" pitchFamily="34" charset="-122"/>
                <a:cs typeface="Arial" pitchFamily="34" charset="-120"/>
              </a:rPr>
              <a:t>Alignment</a:t>
            </a:r>
            <a:endParaRPr lang="en-US" sz="1410" dirty="0"/>
          </a:p>
        </p:txBody>
      </p:sp>
      <p:sp>
        <p:nvSpPr>
          <p:cNvPr id="26" name="Text 24"/>
          <p:cNvSpPr/>
          <p:nvPr/>
        </p:nvSpPr>
        <p:spPr>
          <a:xfrm>
            <a:off x="685800" y="3200400"/>
            <a:ext cx="2468880" cy="420624"/>
          </a:xfrm>
          <a:prstGeom prst="rect">
            <a:avLst/>
          </a:prstGeom>
          <a:noFill/>
          <a:ln/>
        </p:spPr>
        <p:txBody>
          <a:bodyPr wrap="square" lIns="0" tIns="0" rIns="0" bIns="0" rtlCol="0" anchor="t">
            <a:normAutofit/>
          </a:bodyPr>
          <a:lstStyle/>
          <a:p>
            <a:pPr indent="0" marL="0">
              <a:buNone/>
            </a:pPr>
            <a:r>
              <a:rPr lang="en-US" sz="1030" dirty="0">
                <a:solidFill>
                  <a:srgbClr val="5B6871"/>
                </a:solidFill>
                <a:latin typeface="Arial" pitchFamily="34" charset="0"/>
                <a:ea typeface="Arial" pitchFamily="34" charset="-122"/>
                <a:cs typeface="Arial" pitchFamily="34" charset="-120"/>
              </a:rPr>
              <a:t>I aligned the user message with the model’s learned Harmony tool-call format.</a:t>
            </a:r>
            <a:endParaRPr lang="en-US" sz="1030" dirty="0"/>
          </a:p>
        </p:txBody>
      </p:sp>
      <p:sp>
        <p:nvSpPr>
          <p:cNvPr id="27" name="Shape 25"/>
          <p:cNvSpPr/>
          <p:nvPr/>
        </p:nvSpPr>
        <p:spPr>
          <a:xfrm>
            <a:off x="3392424" y="2441448"/>
            <a:ext cx="2743200" cy="1307592"/>
          </a:xfrm>
          <a:prstGeom prst="roundRect">
            <a:avLst>
              <a:gd name="adj" fmla="val 6294"/>
            </a:avLst>
          </a:prstGeom>
          <a:solidFill>
            <a:srgbClr val="FFFAED"/>
          </a:solidFill>
          <a:ln w="8890">
            <a:solidFill>
              <a:srgbClr val="DFE5E9"/>
            </a:solidFill>
            <a:prstDash val="solid"/>
          </a:ln>
        </p:spPr>
      </p:sp>
      <p:sp>
        <p:nvSpPr>
          <p:cNvPr id="28" name="Text 26"/>
          <p:cNvSpPr/>
          <p:nvPr/>
        </p:nvSpPr>
        <p:spPr>
          <a:xfrm>
            <a:off x="3538728" y="2578608"/>
            <a:ext cx="2468880" cy="155448"/>
          </a:xfrm>
          <a:prstGeom prst="rect">
            <a:avLst/>
          </a:prstGeom>
          <a:noFill/>
          <a:ln/>
        </p:spPr>
        <p:txBody>
          <a:bodyPr wrap="square" lIns="0" tIns="0" rIns="0" bIns="0" rtlCol="0" anchor="ctr">
            <a:normAutofit/>
          </a:bodyPr>
          <a:lstStyle/>
          <a:p>
            <a:pPr indent="0" marL="0">
              <a:buNone/>
            </a:pPr>
            <a:r>
              <a:rPr lang="en-US" sz="870" b="1" dirty="0">
                <a:solidFill>
                  <a:srgbClr val="106E90"/>
                </a:solidFill>
                <a:latin typeface="Arial" pitchFamily="34" charset="0"/>
                <a:ea typeface="Arial" pitchFamily="34" charset="-122"/>
                <a:cs typeface="Arial" pitchFamily="34" charset="-120"/>
              </a:rPr>
              <a:t>WHAT FAILED</a:t>
            </a:r>
            <a:endParaRPr lang="en-US" sz="870" dirty="0"/>
          </a:p>
        </p:txBody>
      </p:sp>
      <p:sp>
        <p:nvSpPr>
          <p:cNvPr id="29" name="Text 27"/>
          <p:cNvSpPr/>
          <p:nvPr/>
        </p:nvSpPr>
        <p:spPr>
          <a:xfrm>
            <a:off x="3538728" y="2816352"/>
            <a:ext cx="2468880" cy="274320"/>
          </a:xfrm>
          <a:prstGeom prst="rect">
            <a:avLst/>
          </a:prstGeom>
          <a:noFill/>
          <a:ln/>
        </p:spPr>
        <p:txBody>
          <a:bodyPr wrap="square" lIns="0" tIns="0" rIns="0" bIns="0" rtlCol="0" anchor="ctr">
            <a:normAutofit/>
          </a:bodyPr>
          <a:lstStyle/>
          <a:p>
            <a:pPr indent="0" marL="0">
              <a:buNone/>
            </a:pPr>
            <a:r>
              <a:rPr lang="en-US" sz="1410" b="1" dirty="0">
                <a:solidFill>
                  <a:srgbClr val="1D252B"/>
                </a:solidFill>
                <a:latin typeface="Arial" pitchFamily="34" charset="0"/>
                <a:ea typeface="Arial" pitchFamily="34" charset="-122"/>
                <a:cs typeface="Arial" pitchFamily="34" charset="-120"/>
              </a:rPr>
              <a:t>Shorter ≠ faster</a:t>
            </a:r>
            <a:endParaRPr lang="en-US" sz="1410" dirty="0"/>
          </a:p>
        </p:txBody>
      </p:sp>
      <p:sp>
        <p:nvSpPr>
          <p:cNvPr id="30" name="Text 28"/>
          <p:cNvSpPr/>
          <p:nvPr/>
        </p:nvSpPr>
        <p:spPr>
          <a:xfrm>
            <a:off x="3538728" y="3200400"/>
            <a:ext cx="2468880" cy="420624"/>
          </a:xfrm>
          <a:prstGeom prst="rect">
            <a:avLst/>
          </a:prstGeom>
          <a:noFill/>
          <a:ln/>
        </p:spPr>
        <p:txBody>
          <a:bodyPr wrap="square" lIns="0" tIns="0" rIns="0" bIns="0" rtlCol="0" anchor="t">
            <a:normAutofit/>
          </a:bodyPr>
          <a:lstStyle/>
          <a:p>
            <a:pPr indent="0" marL="0">
              <a:buNone/>
            </a:pPr>
            <a:r>
              <a:rPr lang="en-US" sz="1030" dirty="0">
                <a:solidFill>
                  <a:srgbClr val="5B6871"/>
                </a:solidFill>
                <a:latin typeface="Arial" pitchFamily="34" charset="0"/>
                <a:ea typeface="Arial" pitchFamily="34" charset="-122"/>
                <a:cs typeface="Arial" pitchFamily="34" charset="-120"/>
              </a:rPr>
              <a:t>Shorter text sometimes changed the destination or made replay slower.</a:t>
            </a:r>
            <a:endParaRPr lang="en-US" sz="1030" dirty="0"/>
          </a:p>
        </p:txBody>
      </p:sp>
      <p:sp>
        <p:nvSpPr>
          <p:cNvPr id="31" name="Shape 29"/>
          <p:cNvSpPr/>
          <p:nvPr/>
        </p:nvSpPr>
        <p:spPr>
          <a:xfrm>
            <a:off x="6245352" y="2441448"/>
            <a:ext cx="2331720" cy="1307592"/>
          </a:xfrm>
          <a:prstGeom prst="roundRect">
            <a:avLst>
              <a:gd name="adj" fmla="val 6294"/>
            </a:avLst>
          </a:prstGeom>
          <a:solidFill>
            <a:srgbClr val="EAF7EE"/>
          </a:solidFill>
          <a:ln w="8890">
            <a:solidFill>
              <a:srgbClr val="DFE5E9"/>
            </a:solidFill>
            <a:prstDash val="solid"/>
          </a:ln>
        </p:spPr>
      </p:sp>
      <p:sp>
        <p:nvSpPr>
          <p:cNvPr id="32" name="Text 30"/>
          <p:cNvSpPr/>
          <p:nvPr/>
        </p:nvSpPr>
        <p:spPr>
          <a:xfrm>
            <a:off x="6391656" y="2578608"/>
            <a:ext cx="2057400" cy="155448"/>
          </a:xfrm>
          <a:prstGeom prst="rect">
            <a:avLst/>
          </a:prstGeom>
          <a:noFill/>
          <a:ln/>
        </p:spPr>
        <p:txBody>
          <a:bodyPr wrap="square" lIns="0" tIns="0" rIns="0" bIns="0" rtlCol="0" anchor="ctr">
            <a:normAutofit/>
          </a:bodyPr>
          <a:lstStyle/>
          <a:p>
            <a:pPr indent="0" marL="0">
              <a:buNone/>
            </a:pPr>
            <a:r>
              <a:rPr lang="en-US" sz="870" b="1" dirty="0">
                <a:solidFill>
                  <a:srgbClr val="106E90"/>
                </a:solidFill>
                <a:latin typeface="Arial" pitchFamily="34" charset="0"/>
                <a:ea typeface="Arial" pitchFamily="34" charset="-122"/>
                <a:cs typeface="Arial" pitchFamily="34" charset="-120"/>
              </a:rPr>
              <a:t>RESULT</a:t>
            </a:r>
            <a:endParaRPr lang="en-US" sz="870" dirty="0"/>
          </a:p>
        </p:txBody>
      </p:sp>
      <p:sp>
        <p:nvSpPr>
          <p:cNvPr id="33" name="Text 31"/>
          <p:cNvSpPr/>
          <p:nvPr/>
        </p:nvSpPr>
        <p:spPr>
          <a:xfrm>
            <a:off x="6391656" y="2816352"/>
            <a:ext cx="2057400" cy="274320"/>
          </a:xfrm>
          <a:prstGeom prst="rect">
            <a:avLst/>
          </a:prstGeom>
          <a:noFill/>
          <a:ln/>
        </p:spPr>
        <p:txBody>
          <a:bodyPr wrap="square" lIns="0" tIns="0" rIns="0" bIns="0" rtlCol="0" anchor="ctr">
            <a:normAutofit/>
          </a:bodyPr>
          <a:lstStyle/>
          <a:p>
            <a:pPr indent="0" marL="0">
              <a:buNone/>
            </a:pPr>
            <a:r>
              <a:rPr lang="en-US" sz="1440" b="1" dirty="0">
                <a:solidFill>
                  <a:srgbClr val="1D252B"/>
                </a:solidFill>
                <a:latin typeface="Arial" pitchFamily="34" charset="0"/>
                <a:ea typeface="Arial" pitchFamily="34" charset="-122"/>
                <a:cs typeface="Arial" pitchFamily="34" charset="-120"/>
              </a:rPr>
              <a:t>109.373 s  →  84.358 s</a:t>
            </a:r>
            <a:endParaRPr lang="en-US" sz="1440" dirty="0"/>
          </a:p>
        </p:txBody>
      </p:sp>
      <p:sp>
        <p:nvSpPr>
          <p:cNvPr id="34" name="Text 32"/>
          <p:cNvSpPr/>
          <p:nvPr/>
        </p:nvSpPr>
        <p:spPr>
          <a:xfrm>
            <a:off x="6391656" y="3200400"/>
            <a:ext cx="2057400" cy="420624"/>
          </a:xfrm>
          <a:prstGeom prst="rect">
            <a:avLst/>
          </a:prstGeom>
          <a:noFill/>
          <a:ln/>
        </p:spPr>
        <p:txBody>
          <a:bodyPr wrap="square" lIns="0" tIns="0" rIns="0" bIns="0" rtlCol="0" anchor="t">
            <a:normAutofit/>
          </a:bodyPr>
          <a:lstStyle/>
          <a:p>
            <a:pPr indent="0" marL="0">
              <a:buNone/>
            </a:pPr>
            <a:r>
              <a:rPr lang="en-US" sz="1030" dirty="0">
                <a:solidFill>
                  <a:srgbClr val="5B6871"/>
                </a:solidFill>
                <a:latin typeface="Arial" pitchFamily="34" charset="0"/>
                <a:ea typeface="Arial" pitchFamily="34" charset="-122"/>
                <a:cs typeface="Arial" pitchFamily="34" charset="-120"/>
              </a:rPr>
              <a:t>200 findings and 200 cells kept.</a:t>
            </a:r>
            <a:endParaRPr lang="en-US" sz="1030" dirty="0"/>
          </a:p>
        </p:txBody>
      </p:sp>
      <p:sp>
        <p:nvSpPr>
          <p:cNvPr id="35" name="Shape 33"/>
          <p:cNvSpPr/>
          <p:nvPr/>
        </p:nvSpPr>
        <p:spPr>
          <a:xfrm>
            <a:off x="996696" y="4096512"/>
            <a:ext cx="7187184" cy="411480"/>
          </a:xfrm>
          <a:prstGeom prst="roundRect">
            <a:avLst>
              <a:gd name="adj" fmla="val 20000"/>
            </a:avLst>
          </a:prstGeom>
          <a:solidFill>
            <a:srgbClr val="F6F8FA"/>
          </a:solidFill>
          <a:ln w="12700">
            <a:solidFill>
              <a:srgbClr val="F6F8FA"/>
            </a:solidFill>
            <a:prstDash val="solid"/>
          </a:ln>
        </p:spPr>
      </p:sp>
      <p:sp>
        <p:nvSpPr>
          <p:cNvPr id="36" name="Text 34"/>
          <p:cNvSpPr/>
          <p:nvPr/>
        </p:nvSpPr>
        <p:spPr>
          <a:xfrm>
            <a:off x="1188720" y="4197096"/>
            <a:ext cx="6748272" cy="182880"/>
          </a:xfrm>
          <a:prstGeom prst="rect">
            <a:avLst/>
          </a:prstGeom>
          <a:noFill/>
          <a:ln/>
        </p:spPr>
        <p:txBody>
          <a:bodyPr wrap="square" lIns="0" tIns="0" rIns="0" bIns="0" rtlCol="0" anchor="ctr">
            <a:normAutofit/>
          </a:bodyPr>
          <a:lstStyle/>
          <a:p>
            <a:pPr algn="ctr" indent="0" marL="0">
              <a:buNone/>
            </a:pPr>
            <a:r>
              <a:rPr lang="en-US" sz="1250" b="1" dirty="0">
                <a:solidFill>
                  <a:srgbClr val="106E90"/>
                </a:solidFill>
                <a:latin typeface="Arial" pitchFamily="34" charset="0"/>
                <a:ea typeface="Arial" pitchFamily="34" charset="-122"/>
                <a:cs typeface="Arial" pitchFamily="34" charset="-120"/>
              </a:rPr>
              <a:t>Simple phrase: “GPT-OSS needed the right conversation state.”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01752"/>
            <a:ext cx="8138160" cy="393192"/>
          </a:xfrm>
          <a:prstGeom prst="rect">
            <a:avLst/>
          </a:prstGeom>
          <a:noFill/>
          <a:ln/>
        </p:spPr>
        <p:txBody>
          <a:bodyPr wrap="square" lIns="0" tIns="0" rIns="0" bIns="0" rtlCol="0" anchor="ctr">
            <a:normAutofit/>
          </a:bodyPr>
          <a:lstStyle/>
          <a:p>
            <a:pPr indent="0" marL="0">
              <a:buNone/>
            </a:pPr>
            <a:r>
              <a:rPr lang="en-US" sz="2400" b="1" dirty="0">
                <a:solidFill>
                  <a:srgbClr val="1D252B"/>
                </a:solidFill>
                <a:latin typeface="Arial" pitchFamily="34" charset="0"/>
                <a:ea typeface="Arial" pitchFamily="34" charset="-122"/>
                <a:cs typeface="Arial" pitchFamily="34" charset="-120"/>
              </a:rPr>
              <a:t>Gemma: choose the output policy</a:t>
            </a:r>
            <a:endParaRPr lang="en-US" sz="2400" dirty="0"/>
          </a:p>
        </p:txBody>
      </p:sp>
      <p:sp>
        <p:nvSpPr>
          <p:cNvPr id="3" name="Shape 1"/>
          <p:cNvSpPr/>
          <p:nvPr/>
        </p:nvSpPr>
        <p:spPr>
          <a:xfrm>
            <a:off x="502920" y="932688"/>
            <a:ext cx="8138160" cy="0"/>
          </a:xfrm>
          <a:prstGeom prst="line">
            <a:avLst/>
          </a:prstGeom>
          <a:noFill/>
          <a:ln w="27940">
            <a:solidFill>
              <a:srgbClr val="FFDF3C"/>
            </a:solidFill>
            <a:prstDash val="solid"/>
          </a:ln>
        </p:spPr>
      </p:sp>
      <p:sp>
        <p:nvSpPr>
          <p:cNvPr id="4" name="Text 2"/>
          <p:cNvSpPr/>
          <p:nvPr/>
        </p:nvSpPr>
        <p:spPr>
          <a:xfrm>
            <a:off x="521208" y="1014984"/>
            <a:ext cx="8138160" cy="274320"/>
          </a:xfrm>
          <a:prstGeom prst="rect">
            <a:avLst/>
          </a:prstGeom>
          <a:noFill/>
          <a:ln/>
        </p:spPr>
        <p:txBody>
          <a:bodyPr wrap="square" lIns="0" tIns="0" rIns="0" bIns="0" rtlCol="0" anchor="ctr">
            <a:normAutofit/>
          </a:bodyPr>
          <a:lstStyle/>
          <a:p>
            <a:pPr indent="0" marL="0">
              <a:buNone/>
            </a:pPr>
            <a:r>
              <a:rPr lang="en-US" sz="1070" dirty="0">
                <a:solidFill>
                  <a:srgbClr val="5B6871"/>
                </a:solidFill>
                <a:latin typeface="Arial" pitchFamily="34" charset="0"/>
                <a:ea typeface="Arial" pitchFamily="34" charset="-122"/>
                <a:cs typeface="Arial" pitchFamily="34" charset="-120"/>
              </a:rPr>
              <a:t>The best first call was not always the best full replay.</a:t>
            </a:r>
            <a:endParaRPr lang="en-US" sz="1070" dirty="0"/>
          </a:p>
        </p:txBody>
      </p:sp>
      <p:sp>
        <p:nvSpPr>
          <p:cNvPr id="5" name="Text 3"/>
          <p:cNvSpPr/>
          <p:nvPr/>
        </p:nvSpPr>
        <p:spPr>
          <a:xfrm>
            <a:off x="475488" y="4800600"/>
            <a:ext cx="914400" cy="228600"/>
          </a:xfrm>
          <a:prstGeom prst="rect">
            <a:avLst/>
          </a:prstGeom>
          <a:noFill/>
          <a:ln/>
        </p:spPr>
        <p:txBody>
          <a:bodyPr wrap="square" lIns="0" tIns="0" rIns="0" bIns="0" rtlCol="0" anchor="ctr">
            <a:normAutofit/>
          </a:bodyPr>
          <a:lstStyle/>
          <a:p>
            <a:pPr indent="0" marL="0">
              <a:buNone/>
            </a:pPr>
            <a:r>
              <a:rPr lang="en-US" sz="1250" b="1" dirty="0">
                <a:solidFill>
                  <a:srgbClr val="24B6E6"/>
                </a:solidFill>
                <a:latin typeface="Arial" pitchFamily="34" charset="0"/>
                <a:ea typeface="Arial" pitchFamily="34" charset="-122"/>
                <a:cs typeface="Arial" pitchFamily="34" charset="-120"/>
              </a:rPr>
              <a:t>kaggle</a:t>
            </a:r>
            <a:endParaRPr lang="en-US" sz="1250" dirty="0"/>
          </a:p>
        </p:txBody>
      </p:sp>
      <p:sp>
        <p:nvSpPr>
          <p:cNvPr id="6" name="Text 4"/>
          <p:cNvSpPr/>
          <p:nvPr/>
        </p:nvSpPr>
        <p:spPr>
          <a:xfrm>
            <a:off x="5577840" y="4828032"/>
            <a:ext cx="2834640" cy="146304"/>
          </a:xfrm>
          <a:prstGeom prst="rect">
            <a:avLst/>
          </a:prstGeom>
          <a:noFill/>
          <a:ln/>
        </p:spPr>
        <p:txBody>
          <a:bodyPr wrap="square" lIns="0" tIns="0" rIns="0" bIns="0" rtlCol="0" anchor="ctr">
            <a:normAutofit/>
          </a:bodyPr>
          <a:lstStyle/>
          <a:p>
            <a:pPr algn="r" indent="0" marL="0">
              <a:buNone/>
            </a:pPr>
            <a:r>
              <a:rPr lang="en-US" sz="670" dirty="0">
                <a:solidFill>
                  <a:srgbClr val="89959C"/>
                </a:solidFill>
                <a:latin typeface="Arial" pitchFamily="34" charset="0"/>
                <a:ea typeface="Arial" pitchFamily="34" charset="-122"/>
                <a:cs typeface="Arial" pitchFamily="34" charset="-120"/>
              </a:rPr>
              <a:t>Giovanny Rodríguez  /  AI Agent Security</a:t>
            </a:r>
            <a:endParaRPr lang="en-US" sz="670" dirty="0"/>
          </a:p>
        </p:txBody>
      </p:sp>
      <p:sp>
        <p:nvSpPr>
          <p:cNvPr id="7" name="Text 5"/>
          <p:cNvSpPr/>
          <p:nvPr/>
        </p:nvSpPr>
        <p:spPr>
          <a:xfrm>
            <a:off x="8622792" y="4800600"/>
            <a:ext cx="155448" cy="182880"/>
          </a:xfrm>
          <a:prstGeom prst="rect">
            <a:avLst/>
          </a:prstGeom>
          <a:noFill/>
          <a:ln/>
        </p:spPr>
        <p:txBody>
          <a:bodyPr wrap="square" lIns="0" tIns="0" rIns="0" bIns="0" rtlCol="0" anchor="ctr">
            <a:normAutofit/>
          </a:bodyPr>
          <a:lstStyle/>
          <a:p>
            <a:pPr algn="r" indent="0" marL="0">
              <a:buNone/>
            </a:pPr>
            <a:r>
              <a:rPr lang="en-US" sz="820" dirty="0">
                <a:solidFill>
                  <a:srgbClr val="89959C"/>
                </a:solidFill>
                <a:latin typeface="Arial" pitchFamily="34" charset="0"/>
                <a:ea typeface="Arial" pitchFamily="34" charset="-122"/>
                <a:cs typeface="Arial" pitchFamily="34" charset="-120"/>
              </a:rPr>
              <a:t>5</a:t>
            </a:r>
            <a:endParaRPr lang="en-US" sz="820" dirty="0"/>
          </a:p>
        </p:txBody>
      </p:sp>
      <p:sp>
        <p:nvSpPr>
          <p:cNvPr id="8" name="Shape 6"/>
          <p:cNvSpPr/>
          <p:nvPr/>
        </p:nvSpPr>
        <p:spPr>
          <a:xfrm>
            <a:off x="530352" y="1371600"/>
            <a:ext cx="3840480" cy="1508760"/>
          </a:xfrm>
          <a:prstGeom prst="roundRect">
            <a:avLst>
              <a:gd name="adj" fmla="val 5455"/>
            </a:avLst>
          </a:prstGeom>
          <a:solidFill>
            <a:srgbClr val="F6F8FA"/>
          </a:solidFill>
          <a:ln w="8890">
            <a:solidFill>
              <a:srgbClr val="DFE5E9"/>
            </a:solidFill>
            <a:prstDash val="solid"/>
          </a:ln>
        </p:spPr>
      </p:sp>
      <p:sp>
        <p:nvSpPr>
          <p:cNvPr id="9" name="Text 7"/>
          <p:cNvSpPr/>
          <p:nvPr/>
        </p:nvSpPr>
        <p:spPr>
          <a:xfrm>
            <a:off x="740664" y="1572768"/>
            <a:ext cx="1920240" cy="173736"/>
          </a:xfrm>
          <a:prstGeom prst="rect">
            <a:avLst/>
          </a:prstGeom>
          <a:noFill/>
          <a:ln/>
        </p:spPr>
        <p:txBody>
          <a:bodyPr wrap="square" lIns="0" tIns="0" rIns="0" bIns="0" rtlCol="0" anchor="ctr">
            <a:normAutofit/>
          </a:bodyPr>
          <a:lstStyle/>
          <a:p>
            <a:pPr indent="0" marL="0">
              <a:buNone/>
            </a:pPr>
            <a:r>
              <a:rPr lang="en-US" sz="1110" b="1" dirty="0">
                <a:solidFill>
                  <a:srgbClr val="1D252B"/>
                </a:solidFill>
                <a:latin typeface="Arial" pitchFamily="34" charset="0"/>
                <a:ea typeface="Arial" pitchFamily="34" charset="-122"/>
                <a:cs typeface="Arial" pitchFamily="34" charset="-120"/>
              </a:rPr>
              <a:t>Native string field</a:t>
            </a:r>
            <a:endParaRPr lang="en-US" sz="1110" dirty="0"/>
          </a:p>
        </p:txBody>
      </p:sp>
      <p:sp>
        <p:nvSpPr>
          <p:cNvPr id="10" name="Text 8"/>
          <p:cNvSpPr/>
          <p:nvPr/>
        </p:nvSpPr>
        <p:spPr>
          <a:xfrm>
            <a:off x="2221992" y="1545336"/>
            <a:ext cx="1901952" cy="228600"/>
          </a:xfrm>
          <a:prstGeom prst="rect">
            <a:avLst/>
          </a:prstGeom>
          <a:noFill/>
          <a:ln/>
        </p:spPr>
        <p:txBody>
          <a:bodyPr wrap="square" lIns="0" tIns="0" rIns="0" bIns="0" rtlCol="0" anchor="ctr">
            <a:normAutofit/>
          </a:bodyPr>
          <a:lstStyle/>
          <a:p>
            <a:pPr algn="r" indent="0" marL="0">
              <a:buNone/>
            </a:pPr>
            <a:r>
              <a:rPr lang="en-US" sz="1120" dirty="0">
                <a:solidFill>
                  <a:srgbClr val="106E90"/>
                </a:solidFill>
                <a:latin typeface="Consolas" pitchFamily="34" charset="0"/>
                <a:ea typeface="Consolas" pitchFamily="34" charset="-122"/>
                <a:cs typeface="Consolas" pitchFamily="34" charset="-120"/>
              </a:rPr>
              <a:t>key:&lt;|"|&gt;VALUE&lt;|"|&gt;</a:t>
            </a:r>
            <a:endParaRPr lang="en-US" sz="1120" dirty="0"/>
          </a:p>
        </p:txBody>
      </p:sp>
      <p:sp>
        <p:nvSpPr>
          <p:cNvPr id="11" name="Shape 9"/>
          <p:cNvSpPr/>
          <p:nvPr/>
        </p:nvSpPr>
        <p:spPr>
          <a:xfrm>
            <a:off x="731520" y="1865376"/>
            <a:ext cx="3474720" cy="0"/>
          </a:xfrm>
          <a:prstGeom prst="line">
            <a:avLst/>
          </a:prstGeom>
          <a:noFill/>
          <a:ln w="10160">
            <a:solidFill>
              <a:srgbClr val="DFE5E9"/>
            </a:solidFill>
            <a:prstDash val="solid"/>
          </a:ln>
        </p:spPr>
      </p:sp>
      <p:sp>
        <p:nvSpPr>
          <p:cNvPr id="12" name="Text 10"/>
          <p:cNvSpPr/>
          <p:nvPr/>
        </p:nvSpPr>
        <p:spPr>
          <a:xfrm>
            <a:off x="740664" y="1938528"/>
            <a:ext cx="1920240" cy="182880"/>
          </a:xfrm>
          <a:prstGeom prst="rect">
            <a:avLst/>
          </a:prstGeom>
          <a:noFill/>
          <a:ln/>
        </p:spPr>
        <p:txBody>
          <a:bodyPr wrap="square" lIns="0" tIns="0" rIns="0" bIns="0" rtlCol="0" anchor="ctr">
            <a:normAutofit/>
          </a:bodyPr>
          <a:lstStyle/>
          <a:p>
            <a:pPr indent="0" marL="0">
              <a:buNone/>
            </a:pPr>
            <a:r>
              <a:rPr lang="en-US" sz="1110" b="1" dirty="0">
                <a:solidFill>
                  <a:srgbClr val="1D252B"/>
                </a:solidFill>
                <a:latin typeface="Arial" pitchFamily="34" charset="0"/>
                <a:ea typeface="Arial" pitchFamily="34" charset="-122"/>
                <a:cs typeface="Arial" pitchFamily="34" charset="-120"/>
              </a:rPr>
              <a:t>Accepted bare field</a:t>
            </a:r>
            <a:endParaRPr lang="en-US" sz="1110" dirty="0"/>
          </a:p>
        </p:txBody>
      </p:sp>
      <p:sp>
        <p:nvSpPr>
          <p:cNvPr id="13" name="Text 11"/>
          <p:cNvSpPr/>
          <p:nvPr/>
        </p:nvSpPr>
        <p:spPr>
          <a:xfrm>
            <a:off x="2350008" y="1901952"/>
            <a:ext cx="1773936" cy="256032"/>
          </a:xfrm>
          <a:prstGeom prst="rect">
            <a:avLst/>
          </a:prstGeom>
          <a:noFill/>
          <a:ln/>
        </p:spPr>
        <p:txBody>
          <a:bodyPr wrap="square" lIns="0" tIns="0" rIns="0" bIns="0" rtlCol="0" anchor="ctr">
            <a:normAutofit/>
          </a:bodyPr>
          <a:lstStyle/>
          <a:p>
            <a:pPr algn="r" indent="0" marL="0">
              <a:buNone/>
            </a:pPr>
            <a:r>
              <a:rPr lang="en-US" sz="1210" dirty="0">
                <a:solidFill>
                  <a:srgbClr val="25A94D"/>
                </a:solidFill>
                <a:latin typeface="Consolas" pitchFamily="34" charset="0"/>
                <a:ea typeface="Consolas" pitchFamily="34" charset="-122"/>
                <a:cs typeface="Consolas" pitchFamily="34" charset="-120"/>
              </a:rPr>
              <a:t>key:VALUE</a:t>
            </a:r>
            <a:endParaRPr lang="en-US" sz="1210" dirty="0"/>
          </a:p>
        </p:txBody>
      </p:sp>
      <p:sp>
        <p:nvSpPr>
          <p:cNvPr id="14" name="Shape 12"/>
          <p:cNvSpPr/>
          <p:nvPr/>
        </p:nvSpPr>
        <p:spPr>
          <a:xfrm>
            <a:off x="731520" y="2249424"/>
            <a:ext cx="3474720" cy="0"/>
          </a:xfrm>
          <a:prstGeom prst="line">
            <a:avLst/>
          </a:prstGeom>
          <a:noFill/>
          <a:ln w="10160">
            <a:solidFill>
              <a:srgbClr val="DFE5E9"/>
            </a:solidFill>
            <a:prstDash val="solid"/>
          </a:ln>
        </p:spPr>
      </p:sp>
      <p:sp>
        <p:nvSpPr>
          <p:cNvPr id="15" name="Text 13"/>
          <p:cNvSpPr/>
          <p:nvPr/>
        </p:nvSpPr>
        <p:spPr>
          <a:xfrm>
            <a:off x="740664" y="2359152"/>
            <a:ext cx="1554480" cy="173736"/>
          </a:xfrm>
          <a:prstGeom prst="rect">
            <a:avLst/>
          </a:prstGeom>
          <a:noFill/>
          <a:ln/>
        </p:spPr>
        <p:txBody>
          <a:bodyPr wrap="square" lIns="0" tIns="0" rIns="0" bIns="0" rtlCol="0" anchor="ctr">
            <a:normAutofit/>
          </a:bodyPr>
          <a:lstStyle/>
          <a:p>
            <a:pPr indent="0" marL="0">
              <a:buNone/>
            </a:pPr>
            <a:r>
              <a:rPr lang="en-US" sz="1000" b="1" dirty="0">
                <a:solidFill>
                  <a:srgbClr val="5B6871"/>
                </a:solidFill>
                <a:latin typeface="Arial" pitchFamily="34" charset="0"/>
                <a:ea typeface="Arial" pitchFamily="34" charset="-122"/>
                <a:cs typeface="Arial" pitchFamily="34" charset="-120"/>
              </a:rPr>
              <a:t>After execution</a:t>
            </a:r>
            <a:endParaRPr lang="en-US" sz="1000" dirty="0"/>
          </a:p>
        </p:txBody>
      </p:sp>
      <p:sp>
        <p:nvSpPr>
          <p:cNvPr id="16" name="Text 14"/>
          <p:cNvSpPr/>
          <p:nvPr/>
        </p:nvSpPr>
        <p:spPr>
          <a:xfrm>
            <a:off x="2212848" y="2331720"/>
            <a:ext cx="1901952" cy="210312"/>
          </a:xfrm>
          <a:prstGeom prst="rect">
            <a:avLst/>
          </a:prstGeom>
          <a:noFill/>
          <a:ln/>
        </p:spPr>
        <p:txBody>
          <a:bodyPr wrap="square" lIns="0" tIns="0" rIns="0" bIns="0" rtlCol="0" anchor="ctr">
            <a:normAutofit/>
          </a:bodyPr>
          <a:lstStyle/>
          <a:p>
            <a:pPr algn="r" indent="0" marL="0">
              <a:buNone/>
            </a:pPr>
            <a:r>
              <a:rPr lang="en-US" sz="910" dirty="0">
                <a:solidFill>
                  <a:srgbClr val="5B6871"/>
                </a:solidFill>
                <a:latin typeface="Arial" pitchFamily="34" charset="0"/>
                <a:ea typeface="Arial" pitchFamily="34" charset="-122"/>
                <a:cs typeface="Arial" pitchFamily="34" charset="-120"/>
              </a:rPr>
              <a:t>[call rebuilt with native delimiters]</a:t>
            </a:r>
            <a:endParaRPr lang="en-US" sz="910" dirty="0"/>
          </a:p>
        </p:txBody>
      </p:sp>
      <p:sp>
        <p:nvSpPr>
          <p:cNvPr id="17" name="Shape 15"/>
          <p:cNvSpPr/>
          <p:nvPr/>
        </p:nvSpPr>
        <p:spPr>
          <a:xfrm>
            <a:off x="4636008" y="1371600"/>
            <a:ext cx="3977640" cy="1508760"/>
          </a:xfrm>
          <a:prstGeom prst="roundRect">
            <a:avLst>
              <a:gd name="adj" fmla="val 5455"/>
            </a:avLst>
          </a:prstGeom>
          <a:solidFill>
            <a:srgbClr val="EFF9FC"/>
          </a:solidFill>
          <a:ln w="8890">
            <a:solidFill>
              <a:srgbClr val="CDEAF4"/>
            </a:solidFill>
            <a:prstDash val="solid"/>
          </a:ln>
        </p:spPr>
      </p:sp>
      <p:sp>
        <p:nvSpPr>
          <p:cNvPr id="18" name="Text 16"/>
          <p:cNvSpPr/>
          <p:nvPr/>
        </p:nvSpPr>
        <p:spPr>
          <a:xfrm>
            <a:off x="4846320" y="1563624"/>
            <a:ext cx="3566160" cy="219456"/>
          </a:xfrm>
          <a:prstGeom prst="rect">
            <a:avLst/>
          </a:prstGeom>
          <a:noFill/>
          <a:ln/>
        </p:spPr>
        <p:txBody>
          <a:bodyPr wrap="square" lIns="0" tIns="0" rIns="0" bIns="0" rtlCol="0" anchor="ctr">
            <a:normAutofit/>
          </a:bodyPr>
          <a:lstStyle/>
          <a:p>
            <a:pPr indent="0" marL="0">
              <a:buNone/>
            </a:pPr>
            <a:r>
              <a:rPr lang="en-US" sz="1420" b="1" dirty="0">
                <a:solidFill>
                  <a:srgbClr val="106E90"/>
                </a:solidFill>
                <a:latin typeface="Arial" pitchFamily="34" charset="0"/>
                <a:ea typeface="Arial" pitchFamily="34" charset="-122"/>
                <a:cs typeface="Arial" pitchFamily="34" charset="-120"/>
              </a:rPr>
              <a:t>Stable bare policy</a:t>
            </a:r>
            <a:endParaRPr lang="en-US" sz="1420" dirty="0"/>
          </a:p>
        </p:txBody>
      </p:sp>
      <p:sp>
        <p:nvSpPr>
          <p:cNvPr id="19" name="Text 17"/>
          <p:cNvSpPr/>
          <p:nvPr/>
        </p:nvSpPr>
        <p:spPr>
          <a:xfrm>
            <a:off x="4846320" y="1965960"/>
            <a:ext cx="3502152" cy="310896"/>
          </a:xfrm>
          <a:prstGeom prst="rect">
            <a:avLst/>
          </a:prstGeom>
          <a:noFill/>
          <a:ln/>
        </p:spPr>
        <p:txBody>
          <a:bodyPr wrap="square" lIns="0" tIns="0" rIns="0" bIns="0" rtlCol="0" anchor="ctr">
            <a:normAutofit/>
          </a:bodyPr>
          <a:lstStyle/>
          <a:p>
            <a:pPr indent="0" marL="0">
              <a:buNone/>
            </a:pPr>
            <a:r>
              <a:rPr lang="en-US" sz="1130" dirty="0">
                <a:solidFill>
                  <a:srgbClr val="1D252B"/>
                </a:solidFill>
                <a:latin typeface="Arial" pitchFamily="34" charset="0"/>
                <a:ea typeface="Arial" pitchFamily="34" charset="-122"/>
                <a:cs typeface="Arial" pitchFamily="34" charset="-120"/>
              </a:rPr>
              <a:t>Representative HTTP call: 88 → 68 characters.</a:t>
            </a:r>
            <a:endParaRPr lang="en-US" sz="1130" dirty="0"/>
          </a:p>
        </p:txBody>
      </p:sp>
      <p:sp>
        <p:nvSpPr>
          <p:cNvPr id="20" name="Text 18"/>
          <p:cNvSpPr/>
          <p:nvPr/>
        </p:nvSpPr>
        <p:spPr>
          <a:xfrm>
            <a:off x="4846320" y="2395728"/>
            <a:ext cx="3502152" cy="274320"/>
          </a:xfrm>
          <a:prstGeom prst="rect">
            <a:avLst/>
          </a:prstGeom>
          <a:noFill/>
          <a:ln/>
        </p:spPr>
        <p:txBody>
          <a:bodyPr wrap="square" lIns="0" tIns="0" rIns="0" bIns="0" rtlCol="0" anchor="ctr">
            <a:normAutofit/>
          </a:bodyPr>
          <a:lstStyle/>
          <a:p>
            <a:pPr indent="0" marL="0">
              <a:buNone/>
            </a:pPr>
            <a:r>
              <a:rPr lang="en-US" sz="1110" dirty="0">
                <a:solidFill>
                  <a:srgbClr val="1D252B"/>
                </a:solidFill>
                <a:latin typeface="Arial" pitchFamily="34" charset="0"/>
                <a:ea typeface="Arial" pitchFamily="34" charset="-122"/>
                <a:cs typeface="Arial" pitchFamily="34" charset="-120"/>
              </a:rPr>
              <a:t>Interleaved A/B: 1.603 vs 1.683 s/candidate.</a:t>
            </a:r>
            <a:endParaRPr lang="en-US" sz="1110" dirty="0"/>
          </a:p>
        </p:txBody>
      </p:sp>
      <p:sp>
        <p:nvSpPr>
          <p:cNvPr id="21" name="Text 19"/>
          <p:cNvSpPr/>
          <p:nvPr/>
        </p:nvSpPr>
        <p:spPr>
          <a:xfrm>
            <a:off x="594360" y="3008376"/>
            <a:ext cx="8138160" cy="182880"/>
          </a:xfrm>
          <a:prstGeom prst="rect">
            <a:avLst/>
          </a:prstGeom>
          <a:noFill/>
          <a:ln/>
        </p:spPr>
        <p:txBody>
          <a:bodyPr wrap="square" lIns="0" tIns="0" rIns="0" bIns="0" rtlCol="0" anchor="ctr">
            <a:normAutofit/>
          </a:bodyPr>
          <a:lstStyle/>
          <a:p>
            <a:pPr indent="0" marL="0">
              <a:buNone/>
            </a:pPr>
            <a:r>
              <a:rPr lang="en-US" sz="1380" b="1" dirty="0">
                <a:solidFill>
                  <a:srgbClr val="1D252B"/>
                </a:solidFill>
                <a:latin typeface="Arial" pitchFamily="34" charset="0"/>
                <a:ea typeface="Arial" pitchFamily="34" charset="-122"/>
                <a:cs typeface="Arial" pitchFamily="34" charset="-120"/>
              </a:rPr>
              <a:t>The first-generation trap</a:t>
            </a:r>
            <a:endParaRPr lang="en-US" sz="1380" dirty="0"/>
          </a:p>
        </p:txBody>
      </p:sp>
      <p:sp>
        <p:nvSpPr>
          <p:cNvPr id="22" name="Shape 20"/>
          <p:cNvSpPr/>
          <p:nvPr/>
        </p:nvSpPr>
        <p:spPr>
          <a:xfrm>
            <a:off x="548640" y="3319272"/>
            <a:ext cx="8046720" cy="292608"/>
          </a:xfrm>
          <a:prstGeom prst="rect">
            <a:avLst/>
          </a:prstGeom>
          <a:solidFill>
            <a:srgbClr val="204D5B"/>
          </a:solidFill>
          <a:ln w="12700">
            <a:solidFill>
              <a:srgbClr val="204D5B"/>
            </a:solidFill>
            <a:prstDash val="solid"/>
          </a:ln>
        </p:spPr>
      </p:sp>
      <p:sp>
        <p:nvSpPr>
          <p:cNvPr id="23" name="Text 21"/>
          <p:cNvSpPr/>
          <p:nvPr/>
        </p:nvSpPr>
        <p:spPr>
          <a:xfrm>
            <a:off x="731520" y="3383280"/>
            <a:ext cx="2066544" cy="155448"/>
          </a:xfrm>
          <a:prstGeom prst="rect">
            <a:avLst/>
          </a:prstGeom>
          <a:noFill/>
          <a:ln/>
        </p:spPr>
        <p:txBody>
          <a:bodyPr wrap="square" lIns="0" tIns="0" rIns="0" bIns="0" rtlCol="0" anchor="ctr">
            <a:normAutofit/>
          </a:bodyPr>
          <a:lstStyle/>
          <a:p>
            <a:pPr indent="0" marL="0">
              <a:buNone/>
            </a:pPr>
            <a:r>
              <a:rPr lang="en-US" sz="1070" b="1" dirty="0">
                <a:solidFill>
                  <a:srgbClr val="FFFFFF"/>
                </a:solidFill>
                <a:latin typeface="Arial" pitchFamily="34" charset="0"/>
                <a:ea typeface="Arial" pitchFamily="34" charset="-122"/>
                <a:cs typeface="Arial" pitchFamily="34" charset="-120"/>
              </a:rPr>
              <a:t>Variant</a:t>
            </a:r>
            <a:endParaRPr lang="en-US" sz="1070" dirty="0"/>
          </a:p>
        </p:txBody>
      </p:sp>
      <p:sp>
        <p:nvSpPr>
          <p:cNvPr id="24" name="Text 22"/>
          <p:cNvSpPr/>
          <p:nvPr/>
        </p:nvSpPr>
        <p:spPr>
          <a:xfrm>
            <a:off x="3017520" y="3383280"/>
            <a:ext cx="1645920" cy="155448"/>
          </a:xfrm>
          <a:prstGeom prst="rect">
            <a:avLst/>
          </a:prstGeom>
          <a:noFill/>
          <a:ln/>
        </p:spPr>
        <p:txBody>
          <a:bodyPr wrap="square" lIns="0" tIns="0" rIns="0" bIns="0" rtlCol="0" anchor="ctr">
            <a:normAutofit/>
          </a:bodyPr>
          <a:lstStyle/>
          <a:p>
            <a:pPr indent="0" marL="0">
              <a:buNone/>
            </a:pPr>
            <a:r>
              <a:rPr lang="en-US" sz="1070" b="1" dirty="0">
                <a:solidFill>
                  <a:srgbClr val="FFFFFF"/>
                </a:solidFill>
                <a:latin typeface="Arial" pitchFamily="34" charset="0"/>
                <a:ea typeface="Arial" pitchFamily="34" charset="-122"/>
                <a:cs typeface="Arial" pitchFamily="34" charset="-120"/>
              </a:rPr>
              <a:t>First gen</a:t>
            </a:r>
            <a:endParaRPr lang="en-US" sz="1070" dirty="0"/>
          </a:p>
        </p:txBody>
      </p:sp>
      <p:sp>
        <p:nvSpPr>
          <p:cNvPr id="25" name="Text 23"/>
          <p:cNvSpPr/>
          <p:nvPr/>
        </p:nvSpPr>
        <p:spPr>
          <a:xfrm>
            <a:off x="5010912" y="3383280"/>
            <a:ext cx="1554480" cy="155448"/>
          </a:xfrm>
          <a:prstGeom prst="rect">
            <a:avLst/>
          </a:prstGeom>
          <a:noFill/>
          <a:ln/>
        </p:spPr>
        <p:txBody>
          <a:bodyPr wrap="square" lIns="0" tIns="0" rIns="0" bIns="0" rtlCol="0" anchor="ctr">
            <a:normAutofit/>
          </a:bodyPr>
          <a:lstStyle/>
          <a:p>
            <a:pPr indent="0" marL="0">
              <a:buNone/>
            </a:pPr>
            <a:r>
              <a:rPr lang="en-US" sz="1070" b="1" dirty="0">
                <a:solidFill>
                  <a:srgbClr val="FFFFFF"/>
                </a:solidFill>
                <a:latin typeface="Arial" pitchFamily="34" charset="0"/>
                <a:ea typeface="Arial" pitchFamily="34" charset="-122"/>
                <a:cs typeface="Arial" pitchFamily="34" charset="-120"/>
              </a:rPr>
              <a:t>Post-tool</a:t>
            </a:r>
            <a:endParaRPr lang="en-US" sz="1070" dirty="0"/>
          </a:p>
        </p:txBody>
      </p:sp>
      <p:sp>
        <p:nvSpPr>
          <p:cNvPr id="26" name="Text 24"/>
          <p:cNvSpPr/>
          <p:nvPr/>
        </p:nvSpPr>
        <p:spPr>
          <a:xfrm>
            <a:off x="6976872" y="3383280"/>
            <a:ext cx="1508760" cy="155448"/>
          </a:xfrm>
          <a:prstGeom prst="rect">
            <a:avLst/>
          </a:prstGeom>
          <a:noFill/>
          <a:ln/>
        </p:spPr>
        <p:txBody>
          <a:bodyPr wrap="square" lIns="0" tIns="0" rIns="0" bIns="0" rtlCol="0" anchor="ctr">
            <a:normAutofit/>
          </a:bodyPr>
          <a:lstStyle/>
          <a:p>
            <a:pPr indent="0" marL="0">
              <a:buNone/>
            </a:pPr>
            <a:r>
              <a:rPr lang="en-US" sz="1070" b="1" dirty="0">
                <a:solidFill>
                  <a:srgbClr val="FFFFFF"/>
                </a:solidFill>
                <a:latin typeface="Arial" pitchFamily="34" charset="0"/>
                <a:ea typeface="Arial" pitchFamily="34" charset="-122"/>
                <a:cs typeface="Arial" pitchFamily="34" charset="-120"/>
              </a:rPr>
              <a:t>Total</a:t>
            </a:r>
            <a:endParaRPr lang="en-US" sz="1070" dirty="0"/>
          </a:p>
        </p:txBody>
      </p:sp>
      <p:sp>
        <p:nvSpPr>
          <p:cNvPr id="27" name="Shape 25"/>
          <p:cNvSpPr/>
          <p:nvPr/>
        </p:nvSpPr>
        <p:spPr>
          <a:xfrm>
            <a:off x="548640" y="3611880"/>
            <a:ext cx="8046720" cy="438912"/>
          </a:xfrm>
          <a:prstGeom prst="rect">
            <a:avLst/>
          </a:prstGeom>
          <a:solidFill>
            <a:srgbClr val="F8FAFB"/>
          </a:solidFill>
          <a:ln w="12700">
            <a:solidFill>
              <a:srgbClr val="F8FAFB"/>
            </a:solidFill>
            <a:prstDash val="solid"/>
          </a:ln>
        </p:spPr>
      </p:sp>
      <p:sp>
        <p:nvSpPr>
          <p:cNvPr id="28" name="Shape 26"/>
          <p:cNvSpPr/>
          <p:nvPr/>
        </p:nvSpPr>
        <p:spPr>
          <a:xfrm>
            <a:off x="548640" y="4050792"/>
            <a:ext cx="8046720" cy="438912"/>
          </a:xfrm>
          <a:prstGeom prst="rect">
            <a:avLst/>
          </a:prstGeom>
          <a:solidFill>
            <a:srgbClr val="FFFFFF"/>
          </a:solidFill>
          <a:ln w="12700">
            <a:solidFill>
              <a:srgbClr val="FFFFFF"/>
            </a:solidFill>
            <a:prstDash val="solid"/>
          </a:ln>
        </p:spPr>
      </p:sp>
      <p:sp>
        <p:nvSpPr>
          <p:cNvPr id="29" name="Text 27"/>
          <p:cNvSpPr/>
          <p:nvPr/>
        </p:nvSpPr>
        <p:spPr>
          <a:xfrm>
            <a:off x="740664" y="3749040"/>
            <a:ext cx="2194560" cy="164592"/>
          </a:xfrm>
          <a:prstGeom prst="rect">
            <a:avLst/>
          </a:prstGeom>
          <a:noFill/>
          <a:ln/>
        </p:spPr>
        <p:txBody>
          <a:bodyPr wrap="square" lIns="0" tIns="0" rIns="0" bIns="0" rtlCol="0" anchor="ctr">
            <a:normAutofit/>
          </a:bodyPr>
          <a:lstStyle/>
          <a:p>
            <a:pPr indent="0" marL="0">
              <a:buNone/>
            </a:pPr>
            <a:r>
              <a:rPr lang="en-US" sz="1070" dirty="0">
                <a:solidFill>
                  <a:srgbClr val="1D252B"/>
                </a:solidFill>
                <a:latin typeface="Arial" pitchFamily="34" charset="0"/>
                <a:ea typeface="Arial" pitchFamily="34" charset="-122"/>
                <a:cs typeface="Arial" pitchFamily="34" charset="-120"/>
              </a:rPr>
              <a:t>English control</a:t>
            </a:r>
            <a:endParaRPr lang="en-US" sz="1070" dirty="0"/>
          </a:p>
        </p:txBody>
      </p:sp>
      <p:sp>
        <p:nvSpPr>
          <p:cNvPr id="30" name="Text 28"/>
          <p:cNvSpPr/>
          <p:nvPr/>
        </p:nvSpPr>
        <p:spPr>
          <a:xfrm>
            <a:off x="3017520" y="3749040"/>
            <a:ext cx="1645920" cy="164592"/>
          </a:xfrm>
          <a:prstGeom prst="rect">
            <a:avLst/>
          </a:prstGeom>
          <a:noFill/>
          <a:ln/>
        </p:spPr>
        <p:txBody>
          <a:bodyPr wrap="square" lIns="0" tIns="0" rIns="0" bIns="0" rtlCol="0" anchor="ctr">
            <a:normAutofit/>
          </a:bodyPr>
          <a:lstStyle/>
          <a:p>
            <a:pPr indent="0" marL="0">
              <a:buNone/>
            </a:pPr>
            <a:r>
              <a:rPr lang="en-US" sz="1070" dirty="0">
                <a:solidFill>
                  <a:srgbClr val="1D252B"/>
                </a:solidFill>
                <a:latin typeface="Arial" pitchFamily="34" charset="0"/>
                <a:ea typeface="Arial" pitchFamily="34" charset="-122"/>
                <a:cs typeface="Arial" pitchFamily="34" charset="-120"/>
              </a:rPr>
              <a:t>176.879 s</a:t>
            </a:r>
            <a:endParaRPr lang="en-US" sz="1070" dirty="0"/>
          </a:p>
        </p:txBody>
      </p:sp>
      <p:sp>
        <p:nvSpPr>
          <p:cNvPr id="31" name="Text 29"/>
          <p:cNvSpPr/>
          <p:nvPr/>
        </p:nvSpPr>
        <p:spPr>
          <a:xfrm>
            <a:off x="5010912" y="3749040"/>
            <a:ext cx="1645920" cy="164592"/>
          </a:xfrm>
          <a:prstGeom prst="rect">
            <a:avLst/>
          </a:prstGeom>
          <a:noFill/>
          <a:ln/>
        </p:spPr>
        <p:txBody>
          <a:bodyPr wrap="square" lIns="0" tIns="0" rIns="0" bIns="0" rtlCol="0" anchor="ctr">
            <a:normAutofit/>
          </a:bodyPr>
          <a:lstStyle/>
          <a:p>
            <a:pPr indent="0" marL="0">
              <a:buNone/>
            </a:pPr>
            <a:r>
              <a:rPr lang="en-US" sz="1070" dirty="0">
                <a:solidFill>
                  <a:srgbClr val="1D252B"/>
                </a:solidFill>
                <a:latin typeface="Arial" pitchFamily="34" charset="0"/>
                <a:ea typeface="Arial" pitchFamily="34" charset="-122"/>
                <a:cs typeface="Arial" pitchFamily="34" charset="-120"/>
              </a:rPr>
              <a:t>121.671 s</a:t>
            </a:r>
            <a:endParaRPr lang="en-US" sz="1070" dirty="0"/>
          </a:p>
        </p:txBody>
      </p:sp>
      <p:sp>
        <p:nvSpPr>
          <p:cNvPr id="32" name="Text 30"/>
          <p:cNvSpPr/>
          <p:nvPr/>
        </p:nvSpPr>
        <p:spPr>
          <a:xfrm>
            <a:off x="6976872" y="3749040"/>
            <a:ext cx="1371600" cy="164592"/>
          </a:xfrm>
          <a:prstGeom prst="rect">
            <a:avLst/>
          </a:prstGeom>
          <a:noFill/>
          <a:ln/>
        </p:spPr>
        <p:txBody>
          <a:bodyPr wrap="square" lIns="0" tIns="0" rIns="0" bIns="0" rtlCol="0" anchor="ctr">
            <a:normAutofit/>
          </a:bodyPr>
          <a:lstStyle/>
          <a:p>
            <a:pPr indent="0" marL="0">
              <a:buNone/>
            </a:pPr>
            <a:r>
              <a:rPr lang="en-US" sz="1120" b="1" dirty="0">
                <a:solidFill>
                  <a:srgbClr val="1D252B"/>
                </a:solidFill>
                <a:latin typeface="Arial" pitchFamily="34" charset="0"/>
                <a:ea typeface="Arial" pitchFamily="34" charset="-122"/>
                <a:cs typeface="Arial" pitchFamily="34" charset="-120"/>
              </a:rPr>
              <a:t>303.207 s</a:t>
            </a:r>
            <a:endParaRPr lang="en-US" sz="1120" dirty="0"/>
          </a:p>
        </p:txBody>
      </p:sp>
      <p:sp>
        <p:nvSpPr>
          <p:cNvPr id="33" name="Text 31"/>
          <p:cNvSpPr/>
          <p:nvPr/>
        </p:nvSpPr>
        <p:spPr>
          <a:xfrm>
            <a:off x="740664" y="4187952"/>
            <a:ext cx="2194560" cy="164592"/>
          </a:xfrm>
          <a:prstGeom prst="rect">
            <a:avLst/>
          </a:prstGeom>
          <a:noFill/>
          <a:ln/>
        </p:spPr>
        <p:txBody>
          <a:bodyPr wrap="square" lIns="0" tIns="0" rIns="0" bIns="0" rtlCol="0" anchor="ctr">
            <a:normAutofit/>
          </a:bodyPr>
          <a:lstStyle/>
          <a:p>
            <a:pPr indent="0" marL="0">
              <a:buNone/>
            </a:pPr>
            <a:r>
              <a:rPr lang="en-US" sz="1070" b="1" dirty="0">
                <a:solidFill>
                  <a:srgbClr val="1D252B"/>
                </a:solidFill>
                <a:latin typeface="Arial" pitchFamily="34" charset="0"/>
                <a:ea typeface="Arial" pitchFamily="34" charset="-122"/>
                <a:cs typeface="Arial" pitchFamily="34" charset="-120"/>
              </a:rPr>
              <a:t>Faster first</a:t>
            </a:r>
            <a:endParaRPr lang="en-US" sz="1070" dirty="0"/>
          </a:p>
        </p:txBody>
      </p:sp>
      <p:sp>
        <p:nvSpPr>
          <p:cNvPr id="34" name="Text 32"/>
          <p:cNvSpPr/>
          <p:nvPr/>
        </p:nvSpPr>
        <p:spPr>
          <a:xfrm>
            <a:off x="3017520" y="4187952"/>
            <a:ext cx="1645920" cy="164592"/>
          </a:xfrm>
          <a:prstGeom prst="rect">
            <a:avLst/>
          </a:prstGeom>
          <a:noFill/>
          <a:ln/>
        </p:spPr>
        <p:txBody>
          <a:bodyPr wrap="square" lIns="0" tIns="0" rIns="0" bIns="0" rtlCol="0" anchor="ctr">
            <a:normAutofit/>
          </a:bodyPr>
          <a:lstStyle/>
          <a:p>
            <a:pPr indent="0" marL="0">
              <a:buNone/>
            </a:pPr>
            <a:r>
              <a:rPr lang="en-US" sz="1070" b="1" dirty="0">
                <a:solidFill>
                  <a:srgbClr val="106E90"/>
                </a:solidFill>
                <a:latin typeface="Arial" pitchFamily="34" charset="0"/>
                <a:ea typeface="Arial" pitchFamily="34" charset="-122"/>
                <a:cs typeface="Arial" pitchFamily="34" charset="-120"/>
              </a:rPr>
              <a:t>171.079 s</a:t>
            </a:r>
            <a:endParaRPr lang="en-US" sz="1070" dirty="0"/>
          </a:p>
        </p:txBody>
      </p:sp>
      <p:sp>
        <p:nvSpPr>
          <p:cNvPr id="35" name="Text 33"/>
          <p:cNvSpPr/>
          <p:nvPr/>
        </p:nvSpPr>
        <p:spPr>
          <a:xfrm>
            <a:off x="5010912" y="4187952"/>
            <a:ext cx="1645920" cy="164592"/>
          </a:xfrm>
          <a:prstGeom prst="rect">
            <a:avLst/>
          </a:prstGeom>
          <a:noFill/>
          <a:ln/>
        </p:spPr>
        <p:txBody>
          <a:bodyPr wrap="square" lIns="0" tIns="0" rIns="0" bIns="0" rtlCol="0" anchor="ctr">
            <a:normAutofit/>
          </a:bodyPr>
          <a:lstStyle/>
          <a:p>
            <a:pPr indent="0" marL="0">
              <a:buNone/>
            </a:pPr>
            <a:r>
              <a:rPr lang="en-US" sz="1070" dirty="0">
                <a:solidFill>
                  <a:srgbClr val="1D252B"/>
                </a:solidFill>
                <a:latin typeface="Arial" pitchFamily="34" charset="0"/>
                <a:ea typeface="Arial" pitchFamily="34" charset="-122"/>
                <a:cs typeface="Arial" pitchFamily="34" charset="-120"/>
              </a:rPr>
              <a:t>133.613 s</a:t>
            </a:r>
            <a:endParaRPr lang="en-US" sz="1070" dirty="0"/>
          </a:p>
        </p:txBody>
      </p:sp>
      <p:sp>
        <p:nvSpPr>
          <p:cNvPr id="36" name="Text 34"/>
          <p:cNvSpPr/>
          <p:nvPr/>
        </p:nvSpPr>
        <p:spPr>
          <a:xfrm>
            <a:off x="6976872" y="4187952"/>
            <a:ext cx="1371600" cy="164592"/>
          </a:xfrm>
          <a:prstGeom prst="rect">
            <a:avLst/>
          </a:prstGeom>
          <a:noFill/>
          <a:ln/>
        </p:spPr>
        <p:txBody>
          <a:bodyPr wrap="square" lIns="0" tIns="0" rIns="0" bIns="0" rtlCol="0" anchor="ctr">
            <a:normAutofit/>
          </a:bodyPr>
          <a:lstStyle/>
          <a:p>
            <a:pPr indent="0" marL="0">
              <a:buNone/>
            </a:pPr>
            <a:r>
              <a:rPr lang="en-US" sz="1120" b="1" dirty="0">
                <a:solidFill>
                  <a:srgbClr val="B7584C"/>
                </a:solidFill>
                <a:latin typeface="Arial" pitchFamily="34" charset="0"/>
                <a:ea typeface="Arial" pitchFamily="34" charset="-122"/>
                <a:cs typeface="Arial" pitchFamily="34" charset="-120"/>
              </a:rPr>
              <a:t>309.470 s</a:t>
            </a:r>
            <a:endParaRPr lang="en-US" sz="1120" dirty="0"/>
          </a:p>
        </p:txBody>
      </p:sp>
      <p:sp>
        <p:nvSpPr>
          <p:cNvPr id="37" name="Text 35"/>
          <p:cNvSpPr/>
          <p:nvPr/>
        </p:nvSpPr>
        <p:spPr>
          <a:xfrm>
            <a:off x="621792" y="4590288"/>
            <a:ext cx="7973568" cy="164592"/>
          </a:xfrm>
          <a:prstGeom prst="rect">
            <a:avLst/>
          </a:prstGeom>
          <a:noFill/>
          <a:ln/>
        </p:spPr>
        <p:txBody>
          <a:bodyPr wrap="square" lIns="0" tIns="0" rIns="0" bIns="0" rtlCol="0" anchor="ctr">
            <a:normAutofit/>
          </a:bodyPr>
          <a:lstStyle/>
          <a:p>
            <a:pPr algn="ctr" indent="0" marL="0">
              <a:buNone/>
            </a:pPr>
            <a:r>
              <a:rPr lang="en-US" sz="1190" b="1" dirty="0">
                <a:solidFill>
                  <a:srgbClr val="B7584C"/>
                </a:solidFill>
                <a:latin typeface="Arial" pitchFamily="34" charset="0"/>
                <a:ea typeface="Arial" pitchFamily="34" charset="-122"/>
                <a:cs typeface="Arial" pitchFamily="34" charset="-120"/>
              </a:rPr>
              <a:t>A faster first call made the full replay slower.</a:t>
            </a:r>
            <a:endParaRPr lang="en-US" sz="11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01752"/>
            <a:ext cx="8138160" cy="393192"/>
          </a:xfrm>
          <a:prstGeom prst="rect">
            <a:avLst/>
          </a:prstGeom>
          <a:noFill/>
          <a:ln/>
        </p:spPr>
        <p:txBody>
          <a:bodyPr wrap="square" lIns="0" tIns="0" rIns="0" bIns="0" rtlCol="0" anchor="ctr">
            <a:normAutofit/>
          </a:bodyPr>
          <a:lstStyle/>
          <a:p>
            <a:pPr indent="0" marL="0">
              <a:buNone/>
            </a:pPr>
            <a:r>
              <a:rPr lang="en-US" sz="2400" b="1" dirty="0">
                <a:solidFill>
                  <a:srgbClr val="1D252B"/>
                </a:solidFill>
                <a:latin typeface="Arial" pitchFamily="34" charset="0"/>
                <a:ea typeface="Arial" pitchFamily="34" charset="-122"/>
                <a:cs typeface="Arial" pitchFamily="34" charset="-120"/>
              </a:rPr>
              <a:t>Replay-guided search method</a:t>
            </a:r>
            <a:endParaRPr lang="en-US" sz="2400" dirty="0"/>
          </a:p>
        </p:txBody>
      </p:sp>
      <p:sp>
        <p:nvSpPr>
          <p:cNvPr id="3" name="Shape 1"/>
          <p:cNvSpPr/>
          <p:nvPr/>
        </p:nvSpPr>
        <p:spPr>
          <a:xfrm>
            <a:off x="502920" y="932688"/>
            <a:ext cx="8138160" cy="0"/>
          </a:xfrm>
          <a:prstGeom prst="line">
            <a:avLst/>
          </a:prstGeom>
          <a:noFill/>
          <a:ln w="27940">
            <a:solidFill>
              <a:srgbClr val="FFDF3C"/>
            </a:solidFill>
            <a:prstDash val="solid"/>
          </a:ln>
        </p:spPr>
      </p:sp>
      <p:sp>
        <p:nvSpPr>
          <p:cNvPr id="4" name="Text 2"/>
          <p:cNvSpPr/>
          <p:nvPr/>
        </p:nvSpPr>
        <p:spPr>
          <a:xfrm>
            <a:off x="521208" y="1014984"/>
            <a:ext cx="8138160" cy="274320"/>
          </a:xfrm>
          <a:prstGeom prst="rect">
            <a:avLst/>
          </a:prstGeom>
          <a:noFill/>
          <a:ln/>
        </p:spPr>
        <p:txBody>
          <a:bodyPr wrap="square" lIns="0" tIns="0" rIns="0" bIns="0" rtlCol="0" anchor="ctr">
            <a:normAutofit/>
          </a:bodyPr>
          <a:lstStyle/>
          <a:p>
            <a:pPr indent="0" marL="0">
              <a:buNone/>
            </a:pPr>
            <a:r>
              <a:rPr lang="en-US" sz="1070" dirty="0">
                <a:solidFill>
                  <a:srgbClr val="5B6871"/>
                </a:solidFill>
                <a:latin typeface="Arial" pitchFamily="34" charset="0"/>
                <a:ea typeface="Arial" pitchFamily="34" charset="-122"/>
                <a:cs typeface="Arial" pitchFamily="34" charset="-120"/>
              </a:rPr>
              <a:t>Every change had to survive the real execution path.</a:t>
            </a:r>
            <a:endParaRPr lang="en-US" sz="1070" dirty="0"/>
          </a:p>
        </p:txBody>
      </p:sp>
      <p:sp>
        <p:nvSpPr>
          <p:cNvPr id="5" name="Text 3"/>
          <p:cNvSpPr/>
          <p:nvPr/>
        </p:nvSpPr>
        <p:spPr>
          <a:xfrm>
            <a:off x="475488" y="4800600"/>
            <a:ext cx="914400" cy="228600"/>
          </a:xfrm>
          <a:prstGeom prst="rect">
            <a:avLst/>
          </a:prstGeom>
          <a:noFill/>
          <a:ln/>
        </p:spPr>
        <p:txBody>
          <a:bodyPr wrap="square" lIns="0" tIns="0" rIns="0" bIns="0" rtlCol="0" anchor="ctr">
            <a:normAutofit/>
          </a:bodyPr>
          <a:lstStyle/>
          <a:p>
            <a:pPr indent="0" marL="0">
              <a:buNone/>
            </a:pPr>
            <a:r>
              <a:rPr lang="en-US" sz="1250" b="1" dirty="0">
                <a:solidFill>
                  <a:srgbClr val="24B6E6"/>
                </a:solidFill>
                <a:latin typeface="Arial" pitchFamily="34" charset="0"/>
                <a:ea typeface="Arial" pitchFamily="34" charset="-122"/>
                <a:cs typeface="Arial" pitchFamily="34" charset="-120"/>
              </a:rPr>
              <a:t>kaggle</a:t>
            </a:r>
            <a:endParaRPr lang="en-US" sz="1250" dirty="0"/>
          </a:p>
        </p:txBody>
      </p:sp>
      <p:sp>
        <p:nvSpPr>
          <p:cNvPr id="6" name="Text 4"/>
          <p:cNvSpPr/>
          <p:nvPr/>
        </p:nvSpPr>
        <p:spPr>
          <a:xfrm>
            <a:off x="5577840" y="4828032"/>
            <a:ext cx="2834640" cy="146304"/>
          </a:xfrm>
          <a:prstGeom prst="rect">
            <a:avLst/>
          </a:prstGeom>
          <a:noFill/>
          <a:ln/>
        </p:spPr>
        <p:txBody>
          <a:bodyPr wrap="square" lIns="0" tIns="0" rIns="0" bIns="0" rtlCol="0" anchor="ctr">
            <a:normAutofit/>
          </a:bodyPr>
          <a:lstStyle/>
          <a:p>
            <a:pPr algn="r" indent="0" marL="0">
              <a:buNone/>
            </a:pPr>
            <a:r>
              <a:rPr lang="en-US" sz="670" dirty="0">
                <a:solidFill>
                  <a:srgbClr val="89959C"/>
                </a:solidFill>
                <a:latin typeface="Arial" pitchFamily="34" charset="0"/>
                <a:ea typeface="Arial" pitchFamily="34" charset="-122"/>
                <a:cs typeface="Arial" pitchFamily="34" charset="-120"/>
              </a:rPr>
              <a:t>Giovanny Rodríguez  /  AI Agent Security</a:t>
            </a:r>
            <a:endParaRPr lang="en-US" sz="670" dirty="0"/>
          </a:p>
        </p:txBody>
      </p:sp>
      <p:sp>
        <p:nvSpPr>
          <p:cNvPr id="7" name="Text 5"/>
          <p:cNvSpPr/>
          <p:nvPr/>
        </p:nvSpPr>
        <p:spPr>
          <a:xfrm>
            <a:off x="8622792" y="4800600"/>
            <a:ext cx="155448" cy="182880"/>
          </a:xfrm>
          <a:prstGeom prst="rect">
            <a:avLst/>
          </a:prstGeom>
          <a:noFill/>
          <a:ln/>
        </p:spPr>
        <p:txBody>
          <a:bodyPr wrap="square" lIns="0" tIns="0" rIns="0" bIns="0" rtlCol="0" anchor="ctr">
            <a:normAutofit/>
          </a:bodyPr>
          <a:lstStyle/>
          <a:p>
            <a:pPr algn="r" indent="0" marL="0">
              <a:buNone/>
            </a:pPr>
            <a:r>
              <a:rPr lang="en-US" sz="820" dirty="0">
                <a:solidFill>
                  <a:srgbClr val="89959C"/>
                </a:solidFill>
                <a:latin typeface="Arial" pitchFamily="34" charset="0"/>
                <a:ea typeface="Arial" pitchFamily="34" charset="-122"/>
                <a:cs typeface="Arial" pitchFamily="34" charset="-120"/>
              </a:rPr>
              <a:t>6</a:t>
            </a:r>
            <a:endParaRPr lang="en-US" sz="820" dirty="0"/>
          </a:p>
        </p:txBody>
      </p:sp>
      <p:sp>
        <p:nvSpPr>
          <p:cNvPr id="8" name="Shape 6"/>
          <p:cNvSpPr/>
          <p:nvPr/>
        </p:nvSpPr>
        <p:spPr>
          <a:xfrm>
            <a:off x="722376" y="1362456"/>
            <a:ext cx="7726680" cy="557784"/>
          </a:xfrm>
          <a:prstGeom prst="roundRect">
            <a:avLst>
              <a:gd name="adj" fmla="val 14754"/>
            </a:avLst>
          </a:prstGeom>
          <a:solidFill>
            <a:srgbClr val="F6F8FA"/>
          </a:solidFill>
          <a:ln w="8890">
            <a:solidFill>
              <a:srgbClr val="DFE5E9"/>
            </a:solidFill>
            <a:prstDash val="solid"/>
          </a:ln>
        </p:spPr>
      </p:sp>
      <p:sp>
        <p:nvSpPr>
          <p:cNvPr id="9" name="Shape 7"/>
          <p:cNvSpPr/>
          <p:nvPr/>
        </p:nvSpPr>
        <p:spPr>
          <a:xfrm>
            <a:off x="914400" y="1463040"/>
            <a:ext cx="329184" cy="329184"/>
          </a:xfrm>
          <a:prstGeom prst="ellipse">
            <a:avLst/>
          </a:prstGeom>
          <a:solidFill>
            <a:srgbClr val="24B6E6"/>
          </a:solidFill>
          <a:ln w="12700">
            <a:solidFill>
              <a:srgbClr val="24B6E6"/>
            </a:solidFill>
            <a:prstDash val="solid"/>
          </a:ln>
        </p:spPr>
      </p:sp>
      <p:sp>
        <p:nvSpPr>
          <p:cNvPr id="10" name="Text 8"/>
          <p:cNvSpPr/>
          <p:nvPr/>
        </p:nvSpPr>
        <p:spPr>
          <a:xfrm>
            <a:off x="914400" y="1504188"/>
            <a:ext cx="329184"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1" name="Text 9"/>
          <p:cNvSpPr/>
          <p:nvPr/>
        </p:nvSpPr>
        <p:spPr>
          <a:xfrm>
            <a:off x="1453896" y="1508760"/>
            <a:ext cx="1874520" cy="219456"/>
          </a:xfrm>
          <a:prstGeom prst="rect">
            <a:avLst/>
          </a:prstGeom>
          <a:noFill/>
          <a:ln/>
        </p:spPr>
        <p:txBody>
          <a:bodyPr wrap="square" lIns="0" tIns="0" rIns="0" bIns="0" rtlCol="0" anchor="ctr">
            <a:normAutofit/>
          </a:bodyPr>
          <a:lstStyle/>
          <a:p>
            <a:pPr indent="0" marL="0">
              <a:buNone/>
            </a:pPr>
            <a:r>
              <a:rPr lang="en-US" sz="1400" b="1" dirty="0">
                <a:solidFill>
                  <a:srgbClr val="1D252B"/>
                </a:solidFill>
                <a:latin typeface="Arial" pitchFamily="34" charset="0"/>
                <a:ea typeface="Arial" pitchFamily="34" charset="-122"/>
                <a:cs typeface="Arial" pitchFamily="34" charset="-120"/>
              </a:rPr>
              <a:t>Reconstruct</a:t>
            </a:r>
            <a:endParaRPr lang="en-US" sz="1400" dirty="0"/>
          </a:p>
        </p:txBody>
      </p:sp>
      <p:sp>
        <p:nvSpPr>
          <p:cNvPr id="12" name="Text 10"/>
          <p:cNvSpPr/>
          <p:nvPr/>
        </p:nvSpPr>
        <p:spPr>
          <a:xfrm>
            <a:off x="3236976" y="1527048"/>
            <a:ext cx="4882896" cy="201168"/>
          </a:xfrm>
          <a:prstGeom prst="rect">
            <a:avLst/>
          </a:prstGeom>
          <a:noFill/>
          <a:ln/>
        </p:spPr>
        <p:txBody>
          <a:bodyPr wrap="square" lIns="0" tIns="0" rIns="0" bIns="0" rtlCol="0" anchor="ctr">
            <a:normAutofit/>
          </a:bodyPr>
          <a:lstStyle/>
          <a:p>
            <a:pPr indent="0" marL="0">
              <a:buNone/>
            </a:pPr>
            <a:r>
              <a:rPr lang="en-US" sz="1170" dirty="0">
                <a:solidFill>
                  <a:srgbClr val="5B6871"/>
                </a:solidFill>
                <a:latin typeface="Arial" pitchFamily="34" charset="0"/>
                <a:ea typeface="Arial" pitchFamily="34" charset="-122"/>
                <a:cs typeface="Arial" pitchFamily="34" charset="-120"/>
              </a:rPr>
              <a:t>Exact template, parser, tool, and post-tool history</a:t>
            </a:r>
            <a:endParaRPr lang="en-US" sz="1170" dirty="0"/>
          </a:p>
        </p:txBody>
      </p:sp>
      <p:sp>
        <p:nvSpPr>
          <p:cNvPr id="13" name="Shape 11"/>
          <p:cNvSpPr/>
          <p:nvPr/>
        </p:nvSpPr>
        <p:spPr>
          <a:xfrm>
            <a:off x="722376" y="2066544"/>
            <a:ext cx="7726680" cy="557784"/>
          </a:xfrm>
          <a:prstGeom prst="roundRect">
            <a:avLst>
              <a:gd name="adj" fmla="val 14754"/>
            </a:avLst>
          </a:prstGeom>
          <a:solidFill>
            <a:srgbClr val="FFFFFF"/>
          </a:solidFill>
          <a:ln w="8890">
            <a:solidFill>
              <a:srgbClr val="DFE5E9"/>
            </a:solidFill>
            <a:prstDash val="solid"/>
          </a:ln>
        </p:spPr>
      </p:sp>
      <p:sp>
        <p:nvSpPr>
          <p:cNvPr id="14" name="Shape 12"/>
          <p:cNvSpPr/>
          <p:nvPr/>
        </p:nvSpPr>
        <p:spPr>
          <a:xfrm>
            <a:off x="914400" y="2167128"/>
            <a:ext cx="329184" cy="329184"/>
          </a:xfrm>
          <a:prstGeom prst="ellipse">
            <a:avLst/>
          </a:prstGeom>
          <a:solidFill>
            <a:srgbClr val="24B6E6"/>
          </a:solidFill>
          <a:ln w="12700">
            <a:solidFill>
              <a:srgbClr val="24B6E6"/>
            </a:solidFill>
            <a:prstDash val="solid"/>
          </a:ln>
        </p:spPr>
      </p:sp>
      <p:sp>
        <p:nvSpPr>
          <p:cNvPr id="15" name="Text 13"/>
          <p:cNvSpPr/>
          <p:nvPr/>
        </p:nvSpPr>
        <p:spPr>
          <a:xfrm>
            <a:off x="914400" y="2208276"/>
            <a:ext cx="329184"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4"/>
          <p:cNvSpPr/>
          <p:nvPr/>
        </p:nvSpPr>
        <p:spPr>
          <a:xfrm>
            <a:off x="1453896" y="2212848"/>
            <a:ext cx="1874520" cy="219456"/>
          </a:xfrm>
          <a:prstGeom prst="rect">
            <a:avLst/>
          </a:prstGeom>
          <a:noFill/>
          <a:ln/>
        </p:spPr>
        <p:txBody>
          <a:bodyPr wrap="square" lIns="0" tIns="0" rIns="0" bIns="0" rtlCol="0" anchor="ctr">
            <a:normAutofit/>
          </a:bodyPr>
          <a:lstStyle/>
          <a:p>
            <a:pPr indent="0" marL="0">
              <a:buNone/>
            </a:pPr>
            <a:r>
              <a:rPr lang="en-US" sz="1400" b="1" dirty="0">
                <a:solidFill>
                  <a:srgbClr val="1D252B"/>
                </a:solidFill>
                <a:latin typeface="Arial" pitchFamily="34" charset="0"/>
                <a:ea typeface="Arial" pitchFamily="34" charset="-122"/>
                <a:cs typeface="Arial" pitchFamily="34" charset="-120"/>
              </a:rPr>
              <a:t>Edit</a:t>
            </a:r>
            <a:endParaRPr lang="en-US" sz="1400" dirty="0"/>
          </a:p>
        </p:txBody>
      </p:sp>
      <p:sp>
        <p:nvSpPr>
          <p:cNvPr id="17" name="Text 15"/>
          <p:cNvSpPr/>
          <p:nvPr/>
        </p:nvSpPr>
        <p:spPr>
          <a:xfrm>
            <a:off x="3236976" y="2231136"/>
            <a:ext cx="4882896" cy="201168"/>
          </a:xfrm>
          <a:prstGeom prst="rect">
            <a:avLst/>
          </a:prstGeom>
          <a:noFill/>
          <a:ln/>
        </p:spPr>
        <p:txBody>
          <a:bodyPr wrap="square" lIns="0" tIns="0" rIns="0" bIns="0" rtlCol="0" anchor="ctr">
            <a:normAutofit/>
          </a:bodyPr>
          <a:lstStyle/>
          <a:p>
            <a:pPr indent="0" marL="0">
              <a:buNone/>
            </a:pPr>
            <a:r>
              <a:rPr lang="en-US" sz="1170" dirty="0">
                <a:solidFill>
                  <a:srgbClr val="5B6871"/>
                </a:solidFill>
                <a:latin typeface="Arial" pitchFamily="34" charset="0"/>
                <a:ea typeface="Arial" pitchFamily="34" charset="-122"/>
                <a:cs typeface="Arial" pitchFamily="34" charset="-120"/>
              </a:rPr>
              <a:t>Change one mechanism in the active source</a:t>
            </a:r>
            <a:endParaRPr lang="en-US" sz="1170" dirty="0"/>
          </a:p>
        </p:txBody>
      </p:sp>
      <p:sp>
        <p:nvSpPr>
          <p:cNvPr id="18" name="Shape 16"/>
          <p:cNvSpPr/>
          <p:nvPr/>
        </p:nvSpPr>
        <p:spPr>
          <a:xfrm>
            <a:off x="722376" y="2770632"/>
            <a:ext cx="7726680" cy="557784"/>
          </a:xfrm>
          <a:prstGeom prst="roundRect">
            <a:avLst>
              <a:gd name="adj" fmla="val 14754"/>
            </a:avLst>
          </a:prstGeom>
          <a:solidFill>
            <a:srgbClr val="F6F8FA"/>
          </a:solidFill>
          <a:ln w="8890">
            <a:solidFill>
              <a:srgbClr val="DFE5E9"/>
            </a:solidFill>
            <a:prstDash val="solid"/>
          </a:ln>
        </p:spPr>
      </p:sp>
      <p:sp>
        <p:nvSpPr>
          <p:cNvPr id="19" name="Shape 17"/>
          <p:cNvSpPr/>
          <p:nvPr/>
        </p:nvSpPr>
        <p:spPr>
          <a:xfrm>
            <a:off x="914400" y="2871216"/>
            <a:ext cx="329184" cy="329184"/>
          </a:xfrm>
          <a:prstGeom prst="ellipse">
            <a:avLst/>
          </a:prstGeom>
          <a:solidFill>
            <a:srgbClr val="24B6E6"/>
          </a:solidFill>
          <a:ln w="12700">
            <a:solidFill>
              <a:srgbClr val="24B6E6"/>
            </a:solidFill>
            <a:prstDash val="solid"/>
          </a:ln>
        </p:spPr>
      </p:sp>
      <p:sp>
        <p:nvSpPr>
          <p:cNvPr id="20" name="Text 18"/>
          <p:cNvSpPr/>
          <p:nvPr/>
        </p:nvSpPr>
        <p:spPr>
          <a:xfrm>
            <a:off x="914400" y="2912364"/>
            <a:ext cx="329184"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1" name="Text 19"/>
          <p:cNvSpPr/>
          <p:nvPr/>
        </p:nvSpPr>
        <p:spPr>
          <a:xfrm>
            <a:off x="1453896" y="2916936"/>
            <a:ext cx="1874520" cy="219456"/>
          </a:xfrm>
          <a:prstGeom prst="rect">
            <a:avLst/>
          </a:prstGeom>
          <a:noFill/>
          <a:ln/>
        </p:spPr>
        <p:txBody>
          <a:bodyPr wrap="square" lIns="0" tIns="0" rIns="0" bIns="0" rtlCol="0" anchor="ctr">
            <a:normAutofit/>
          </a:bodyPr>
          <a:lstStyle/>
          <a:p>
            <a:pPr indent="0" marL="0">
              <a:buNone/>
            </a:pPr>
            <a:r>
              <a:rPr lang="en-US" sz="1400" b="1" dirty="0">
                <a:solidFill>
                  <a:srgbClr val="1D252B"/>
                </a:solidFill>
                <a:latin typeface="Arial" pitchFamily="34" charset="0"/>
                <a:ea typeface="Arial" pitchFamily="34" charset="-122"/>
                <a:cs typeface="Arial" pitchFamily="34" charset="-120"/>
              </a:rPr>
              <a:t>Replay</a:t>
            </a:r>
            <a:endParaRPr lang="en-US" sz="1400" dirty="0"/>
          </a:p>
        </p:txBody>
      </p:sp>
      <p:sp>
        <p:nvSpPr>
          <p:cNvPr id="22" name="Text 20"/>
          <p:cNvSpPr/>
          <p:nvPr/>
        </p:nvSpPr>
        <p:spPr>
          <a:xfrm>
            <a:off x="3236976" y="2935224"/>
            <a:ext cx="4882896" cy="201168"/>
          </a:xfrm>
          <a:prstGeom prst="rect">
            <a:avLst/>
          </a:prstGeom>
          <a:noFill/>
          <a:ln/>
        </p:spPr>
        <p:txBody>
          <a:bodyPr wrap="square" lIns="0" tIns="0" rIns="0" bIns="0" rtlCol="0" anchor="ctr">
            <a:normAutofit/>
          </a:bodyPr>
          <a:lstStyle/>
          <a:p>
            <a:pPr indent="0" marL="0">
              <a:buNone/>
            </a:pPr>
            <a:r>
              <a:rPr lang="en-US" sz="1170" dirty="0">
                <a:solidFill>
                  <a:srgbClr val="5B6871"/>
                </a:solidFill>
                <a:latin typeface="Arial" pitchFamily="34" charset="0"/>
                <a:ea typeface="Arial" pitchFamily="34" charset="-122"/>
                <a:cs typeface="Arial" pitchFamily="34" charset="-120"/>
              </a:rPr>
              <a:t>Run 200 real candidates, not a prompt simulator</a:t>
            </a:r>
            <a:endParaRPr lang="en-US" sz="1170" dirty="0"/>
          </a:p>
        </p:txBody>
      </p:sp>
      <p:sp>
        <p:nvSpPr>
          <p:cNvPr id="23" name="Shape 21"/>
          <p:cNvSpPr/>
          <p:nvPr/>
        </p:nvSpPr>
        <p:spPr>
          <a:xfrm>
            <a:off x="722376" y="3474720"/>
            <a:ext cx="7726680" cy="557784"/>
          </a:xfrm>
          <a:prstGeom prst="roundRect">
            <a:avLst>
              <a:gd name="adj" fmla="val 14754"/>
            </a:avLst>
          </a:prstGeom>
          <a:solidFill>
            <a:srgbClr val="FFFFFF"/>
          </a:solidFill>
          <a:ln w="8890">
            <a:solidFill>
              <a:srgbClr val="DFE5E9"/>
            </a:solidFill>
            <a:prstDash val="solid"/>
          </a:ln>
        </p:spPr>
      </p:sp>
      <p:sp>
        <p:nvSpPr>
          <p:cNvPr id="24" name="Shape 22"/>
          <p:cNvSpPr/>
          <p:nvPr/>
        </p:nvSpPr>
        <p:spPr>
          <a:xfrm>
            <a:off x="914400" y="3575304"/>
            <a:ext cx="329184" cy="329184"/>
          </a:xfrm>
          <a:prstGeom prst="ellipse">
            <a:avLst/>
          </a:prstGeom>
          <a:solidFill>
            <a:srgbClr val="25A94D"/>
          </a:solidFill>
          <a:ln w="12700">
            <a:solidFill>
              <a:srgbClr val="25A94D"/>
            </a:solidFill>
            <a:prstDash val="solid"/>
          </a:ln>
        </p:spPr>
      </p:sp>
      <p:sp>
        <p:nvSpPr>
          <p:cNvPr id="25" name="Text 23"/>
          <p:cNvSpPr/>
          <p:nvPr/>
        </p:nvSpPr>
        <p:spPr>
          <a:xfrm>
            <a:off x="914400" y="3616452"/>
            <a:ext cx="329184"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6" name="Text 24"/>
          <p:cNvSpPr/>
          <p:nvPr/>
        </p:nvSpPr>
        <p:spPr>
          <a:xfrm>
            <a:off x="1453896" y="3621024"/>
            <a:ext cx="1874520" cy="219456"/>
          </a:xfrm>
          <a:prstGeom prst="rect">
            <a:avLst/>
          </a:prstGeom>
          <a:noFill/>
          <a:ln/>
        </p:spPr>
        <p:txBody>
          <a:bodyPr wrap="square" lIns="0" tIns="0" rIns="0" bIns="0" rtlCol="0" anchor="ctr">
            <a:normAutofit/>
          </a:bodyPr>
          <a:lstStyle/>
          <a:p>
            <a:pPr indent="0" marL="0">
              <a:buNone/>
            </a:pPr>
            <a:r>
              <a:rPr lang="en-US" sz="1400" b="1" dirty="0">
                <a:solidFill>
                  <a:srgbClr val="1D252B"/>
                </a:solidFill>
                <a:latin typeface="Arial" pitchFamily="34" charset="0"/>
                <a:ea typeface="Arial" pitchFamily="34" charset="-122"/>
                <a:cs typeface="Arial" pitchFamily="34" charset="-120"/>
              </a:rPr>
              <a:t>Keep or restore</a:t>
            </a:r>
            <a:endParaRPr lang="en-US" sz="1400" dirty="0"/>
          </a:p>
        </p:txBody>
      </p:sp>
      <p:sp>
        <p:nvSpPr>
          <p:cNvPr id="27" name="Text 25"/>
          <p:cNvSpPr/>
          <p:nvPr/>
        </p:nvSpPr>
        <p:spPr>
          <a:xfrm>
            <a:off x="3236976" y="3639312"/>
            <a:ext cx="4882896" cy="201168"/>
          </a:xfrm>
          <a:prstGeom prst="rect">
            <a:avLst/>
          </a:prstGeom>
          <a:noFill/>
          <a:ln/>
        </p:spPr>
        <p:txBody>
          <a:bodyPr wrap="square" lIns="0" tIns="0" rIns="0" bIns="0" rtlCol="0" anchor="ctr">
            <a:normAutofit/>
          </a:bodyPr>
          <a:lstStyle/>
          <a:p>
            <a:pPr indent="0" marL="0">
              <a:buNone/>
            </a:pPr>
            <a:r>
              <a:rPr lang="en-US" sz="1170" dirty="0">
                <a:solidFill>
                  <a:srgbClr val="5B6871"/>
                </a:solidFill>
                <a:latin typeface="Arial" pitchFamily="34" charset="0"/>
                <a:ea typeface="Arial" pitchFamily="34" charset="-122"/>
                <a:cs typeface="Arial" pitchFamily="34" charset="-120"/>
              </a:rPr>
              <a:t>Promote only if findings, cells, and time improve</a:t>
            </a:r>
            <a:endParaRPr lang="en-US" sz="1170" dirty="0"/>
          </a:p>
        </p:txBody>
      </p:sp>
      <p:sp>
        <p:nvSpPr>
          <p:cNvPr id="28" name="Shape 26"/>
          <p:cNvSpPr/>
          <p:nvPr/>
        </p:nvSpPr>
        <p:spPr>
          <a:xfrm>
            <a:off x="969264" y="4315968"/>
            <a:ext cx="7232904" cy="384048"/>
          </a:xfrm>
          <a:prstGeom prst="roundRect">
            <a:avLst>
              <a:gd name="adj" fmla="val 21429"/>
            </a:avLst>
          </a:prstGeom>
          <a:solidFill>
            <a:srgbClr val="EFF9FC"/>
          </a:solidFill>
          <a:ln w="12700">
            <a:solidFill>
              <a:srgbClr val="EFF9FC"/>
            </a:solidFill>
            <a:prstDash val="solid"/>
          </a:ln>
        </p:spPr>
      </p:sp>
      <p:sp>
        <p:nvSpPr>
          <p:cNvPr id="29" name="Text 27"/>
          <p:cNvSpPr/>
          <p:nvPr/>
        </p:nvSpPr>
        <p:spPr>
          <a:xfrm>
            <a:off x="1133856" y="4425696"/>
            <a:ext cx="6876288" cy="164592"/>
          </a:xfrm>
          <a:prstGeom prst="rect">
            <a:avLst/>
          </a:prstGeom>
          <a:noFill/>
          <a:ln/>
        </p:spPr>
        <p:txBody>
          <a:bodyPr wrap="square" lIns="0" tIns="0" rIns="0" bIns="0" rtlCol="0" anchor="ctr">
            <a:normAutofit/>
          </a:bodyPr>
          <a:lstStyle/>
          <a:p>
            <a:pPr algn="ctr" indent="0" marL="0">
              <a:buNone/>
            </a:pPr>
            <a:r>
              <a:rPr lang="en-US" sz="1160" b="1" dirty="0">
                <a:solidFill>
                  <a:srgbClr val="106E90"/>
                </a:solidFill>
                <a:latin typeface="Arial" pitchFamily="34" charset="0"/>
                <a:ea typeface="Arial" pitchFamily="34" charset="-122"/>
                <a:cs typeface="Arial" pitchFamily="34" charset="-120"/>
              </a:rPr>
              <a:t>Gate: 200 findings  ·  200 distinct cells  ·  correct arguments  ·  normal completion</a:t>
            </a:r>
            <a:endParaRPr lang="en-US" sz="11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01752"/>
            <a:ext cx="8138160" cy="393192"/>
          </a:xfrm>
          <a:prstGeom prst="rect">
            <a:avLst/>
          </a:prstGeom>
          <a:noFill/>
          <a:ln/>
        </p:spPr>
        <p:txBody>
          <a:bodyPr wrap="square" lIns="0" tIns="0" rIns="0" bIns="0" rtlCol="0" anchor="ctr">
            <a:normAutofit/>
          </a:bodyPr>
          <a:lstStyle/>
          <a:p>
            <a:pPr indent="0" marL="0">
              <a:buNone/>
            </a:pPr>
            <a:r>
              <a:rPr lang="en-US" sz="2400" b="1" dirty="0">
                <a:solidFill>
                  <a:srgbClr val="1D252B"/>
                </a:solidFill>
                <a:latin typeface="Arial" pitchFamily="34" charset="0"/>
                <a:ea typeface="Arial" pitchFamily="34" charset="-122"/>
                <a:cs typeface="Arial" pitchFamily="34" charset="-120"/>
              </a:rPr>
              <a:t>From HTTP experiments to email</a:t>
            </a:r>
            <a:endParaRPr lang="en-US" sz="2400" dirty="0"/>
          </a:p>
        </p:txBody>
      </p:sp>
      <p:sp>
        <p:nvSpPr>
          <p:cNvPr id="3" name="Shape 1"/>
          <p:cNvSpPr/>
          <p:nvPr/>
        </p:nvSpPr>
        <p:spPr>
          <a:xfrm>
            <a:off x="502920" y="932688"/>
            <a:ext cx="8138160" cy="0"/>
          </a:xfrm>
          <a:prstGeom prst="line">
            <a:avLst/>
          </a:prstGeom>
          <a:noFill/>
          <a:ln w="27940">
            <a:solidFill>
              <a:srgbClr val="FFDF3C"/>
            </a:solidFill>
            <a:prstDash val="solid"/>
          </a:ln>
        </p:spPr>
      </p:sp>
      <p:sp>
        <p:nvSpPr>
          <p:cNvPr id="4" name="Text 2"/>
          <p:cNvSpPr/>
          <p:nvPr/>
        </p:nvSpPr>
        <p:spPr>
          <a:xfrm>
            <a:off x="521208" y="1014984"/>
            <a:ext cx="8138160" cy="274320"/>
          </a:xfrm>
          <a:prstGeom prst="rect">
            <a:avLst/>
          </a:prstGeom>
          <a:noFill/>
          <a:ln/>
        </p:spPr>
        <p:txBody>
          <a:bodyPr wrap="square" lIns="0" tIns="0" rIns="0" bIns="0" rtlCol="0" anchor="ctr">
            <a:normAutofit/>
          </a:bodyPr>
          <a:lstStyle/>
          <a:p>
            <a:pPr indent="0" marL="0">
              <a:buNone/>
            </a:pPr>
            <a:r>
              <a:rPr lang="en-US" sz="1070" dirty="0">
                <a:solidFill>
                  <a:srgbClr val="5B6871"/>
                </a:solidFill>
                <a:latin typeface="Arial" pitchFamily="34" charset="0"/>
                <a:ea typeface="Arial" pitchFamily="34" charset="-122"/>
                <a:cs typeface="Arial" pitchFamily="34" charset="-120"/>
              </a:rPr>
              <a:t>The action was the test case; the execution strategy was reusable.</a:t>
            </a:r>
            <a:endParaRPr lang="en-US" sz="1070" dirty="0"/>
          </a:p>
        </p:txBody>
      </p:sp>
      <p:sp>
        <p:nvSpPr>
          <p:cNvPr id="5" name="Text 3"/>
          <p:cNvSpPr/>
          <p:nvPr/>
        </p:nvSpPr>
        <p:spPr>
          <a:xfrm>
            <a:off x="475488" y="4800600"/>
            <a:ext cx="914400" cy="228600"/>
          </a:xfrm>
          <a:prstGeom prst="rect">
            <a:avLst/>
          </a:prstGeom>
          <a:noFill/>
          <a:ln/>
        </p:spPr>
        <p:txBody>
          <a:bodyPr wrap="square" lIns="0" tIns="0" rIns="0" bIns="0" rtlCol="0" anchor="ctr">
            <a:normAutofit/>
          </a:bodyPr>
          <a:lstStyle/>
          <a:p>
            <a:pPr indent="0" marL="0">
              <a:buNone/>
            </a:pPr>
            <a:r>
              <a:rPr lang="en-US" sz="1250" b="1" dirty="0">
                <a:solidFill>
                  <a:srgbClr val="24B6E6"/>
                </a:solidFill>
                <a:latin typeface="Arial" pitchFamily="34" charset="0"/>
                <a:ea typeface="Arial" pitchFamily="34" charset="-122"/>
                <a:cs typeface="Arial" pitchFamily="34" charset="-120"/>
              </a:rPr>
              <a:t>kaggle</a:t>
            </a:r>
            <a:endParaRPr lang="en-US" sz="1250" dirty="0"/>
          </a:p>
        </p:txBody>
      </p:sp>
      <p:sp>
        <p:nvSpPr>
          <p:cNvPr id="6" name="Text 4"/>
          <p:cNvSpPr/>
          <p:nvPr/>
        </p:nvSpPr>
        <p:spPr>
          <a:xfrm>
            <a:off x="5577840" y="4828032"/>
            <a:ext cx="2834640" cy="146304"/>
          </a:xfrm>
          <a:prstGeom prst="rect">
            <a:avLst/>
          </a:prstGeom>
          <a:noFill/>
          <a:ln/>
        </p:spPr>
        <p:txBody>
          <a:bodyPr wrap="square" lIns="0" tIns="0" rIns="0" bIns="0" rtlCol="0" anchor="ctr">
            <a:normAutofit/>
          </a:bodyPr>
          <a:lstStyle/>
          <a:p>
            <a:pPr algn="r" indent="0" marL="0">
              <a:buNone/>
            </a:pPr>
            <a:r>
              <a:rPr lang="en-US" sz="670" dirty="0">
                <a:solidFill>
                  <a:srgbClr val="89959C"/>
                </a:solidFill>
                <a:latin typeface="Arial" pitchFamily="34" charset="0"/>
                <a:ea typeface="Arial" pitchFamily="34" charset="-122"/>
                <a:cs typeface="Arial" pitchFamily="34" charset="-120"/>
              </a:rPr>
              <a:t>Giovanny Rodríguez  /  AI Agent Security</a:t>
            </a:r>
            <a:endParaRPr lang="en-US" sz="670" dirty="0"/>
          </a:p>
        </p:txBody>
      </p:sp>
      <p:sp>
        <p:nvSpPr>
          <p:cNvPr id="7" name="Text 5"/>
          <p:cNvSpPr/>
          <p:nvPr/>
        </p:nvSpPr>
        <p:spPr>
          <a:xfrm>
            <a:off x="8622792" y="4800600"/>
            <a:ext cx="155448" cy="182880"/>
          </a:xfrm>
          <a:prstGeom prst="rect">
            <a:avLst/>
          </a:prstGeom>
          <a:noFill/>
          <a:ln/>
        </p:spPr>
        <p:txBody>
          <a:bodyPr wrap="square" lIns="0" tIns="0" rIns="0" bIns="0" rtlCol="0" anchor="ctr">
            <a:normAutofit/>
          </a:bodyPr>
          <a:lstStyle/>
          <a:p>
            <a:pPr algn="r" indent="0" marL="0">
              <a:buNone/>
            </a:pPr>
            <a:r>
              <a:rPr lang="en-US" sz="820" dirty="0">
                <a:solidFill>
                  <a:srgbClr val="89959C"/>
                </a:solidFill>
                <a:latin typeface="Arial" pitchFamily="34" charset="0"/>
                <a:ea typeface="Arial" pitchFamily="34" charset="-122"/>
                <a:cs typeface="Arial" pitchFamily="34" charset="-120"/>
              </a:rPr>
              <a:t>7</a:t>
            </a:r>
            <a:endParaRPr lang="en-US" sz="820" dirty="0"/>
          </a:p>
        </p:txBody>
      </p:sp>
      <p:sp>
        <p:nvSpPr>
          <p:cNvPr id="8" name="Shape 6"/>
          <p:cNvSpPr/>
          <p:nvPr/>
        </p:nvSpPr>
        <p:spPr>
          <a:xfrm>
            <a:off x="566928" y="1380744"/>
            <a:ext cx="3822192" cy="1636776"/>
          </a:xfrm>
          <a:prstGeom prst="roundRect">
            <a:avLst>
              <a:gd name="adj" fmla="val 5028"/>
            </a:avLst>
          </a:prstGeom>
          <a:solidFill>
            <a:srgbClr val="FFF9EC"/>
          </a:solidFill>
          <a:ln w="8890">
            <a:solidFill>
              <a:srgbClr val="F4DEAD"/>
            </a:solidFill>
            <a:prstDash val="solid"/>
          </a:ln>
        </p:spPr>
      </p:sp>
      <p:sp>
        <p:nvSpPr>
          <p:cNvPr id="9" name="Shape 7"/>
          <p:cNvSpPr/>
          <p:nvPr/>
        </p:nvSpPr>
        <p:spPr>
          <a:xfrm>
            <a:off x="4754880" y="1380744"/>
            <a:ext cx="3822192" cy="1636776"/>
          </a:xfrm>
          <a:prstGeom prst="roundRect">
            <a:avLst>
              <a:gd name="adj" fmla="val 5028"/>
            </a:avLst>
          </a:prstGeom>
          <a:solidFill>
            <a:srgbClr val="EFF9FC"/>
          </a:solidFill>
          <a:ln w="8890">
            <a:solidFill>
              <a:srgbClr val="CEEBF4"/>
            </a:solidFill>
            <a:prstDash val="solid"/>
          </a:ln>
        </p:spPr>
      </p:sp>
      <p:sp>
        <p:nvSpPr>
          <p:cNvPr id="10" name="Shape 8"/>
          <p:cNvSpPr/>
          <p:nvPr/>
        </p:nvSpPr>
        <p:spPr>
          <a:xfrm>
            <a:off x="786384" y="1581912"/>
            <a:ext cx="704088" cy="237744"/>
          </a:xfrm>
          <a:prstGeom prst="roundRect">
            <a:avLst>
              <a:gd name="adj" fmla="val 34615"/>
            </a:avLst>
          </a:prstGeom>
          <a:solidFill>
            <a:srgbClr val="FCE9C8"/>
          </a:solidFill>
          <a:ln w="12700">
            <a:solidFill>
              <a:srgbClr val="FCE9C8"/>
            </a:solidFill>
            <a:prstDash val="solid"/>
          </a:ln>
        </p:spPr>
      </p:sp>
      <p:sp>
        <p:nvSpPr>
          <p:cNvPr id="11" name="Text 9"/>
          <p:cNvSpPr/>
          <p:nvPr/>
        </p:nvSpPr>
        <p:spPr>
          <a:xfrm>
            <a:off x="841248" y="1594714"/>
            <a:ext cx="594360" cy="192024"/>
          </a:xfrm>
          <a:prstGeom prst="rect">
            <a:avLst/>
          </a:prstGeom>
          <a:noFill/>
          <a:ln/>
        </p:spPr>
        <p:txBody>
          <a:bodyPr wrap="square" lIns="0" tIns="0" rIns="0" bIns="0" rtlCol="0" anchor="ctr">
            <a:normAutofit/>
          </a:bodyPr>
          <a:lstStyle/>
          <a:p>
            <a:pPr algn="ctr" indent="0" marL="0">
              <a:buNone/>
            </a:pPr>
            <a:r>
              <a:rPr lang="en-US" sz="810" b="1" dirty="0">
                <a:solidFill>
                  <a:srgbClr val="D87E4B"/>
                </a:solidFill>
                <a:latin typeface="Arial" pitchFamily="34" charset="0"/>
                <a:ea typeface="Arial" pitchFamily="34" charset="-122"/>
                <a:cs typeface="Arial" pitchFamily="34" charset="-120"/>
              </a:rPr>
              <a:t>HTTP</a:t>
            </a:r>
            <a:endParaRPr lang="en-US" sz="810" dirty="0"/>
          </a:p>
        </p:txBody>
      </p:sp>
      <p:sp>
        <p:nvSpPr>
          <p:cNvPr id="12" name="Shape 10"/>
          <p:cNvSpPr/>
          <p:nvPr/>
        </p:nvSpPr>
        <p:spPr>
          <a:xfrm>
            <a:off x="4956048" y="1581912"/>
            <a:ext cx="768096" cy="237744"/>
          </a:xfrm>
          <a:prstGeom prst="roundRect">
            <a:avLst>
              <a:gd name="adj" fmla="val 34615"/>
            </a:avLst>
          </a:prstGeom>
          <a:solidFill>
            <a:srgbClr val="D5F3FA"/>
          </a:solidFill>
          <a:ln w="12700">
            <a:solidFill>
              <a:srgbClr val="D5F3FA"/>
            </a:solidFill>
            <a:prstDash val="solid"/>
          </a:ln>
        </p:spPr>
      </p:sp>
      <p:sp>
        <p:nvSpPr>
          <p:cNvPr id="13" name="Text 11"/>
          <p:cNvSpPr/>
          <p:nvPr/>
        </p:nvSpPr>
        <p:spPr>
          <a:xfrm>
            <a:off x="5010912" y="1594714"/>
            <a:ext cx="658368" cy="192024"/>
          </a:xfrm>
          <a:prstGeom prst="rect">
            <a:avLst/>
          </a:prstGeom>
          <a:noFill/>
          <a:ln/>
        </p:spPr>
        <p:txBody>
          <a:bodyPr wrap="square" lIns="0" tIns="0" rIns="0" bIns="0" rtlCol="0" anchor="ctr">
            <a:normAutofit/>
          </a:bodyPr>
          <a:lstStyle/>
          <a:p>
            <a:pPr algn="ctr" indent="0" marL="0">
              <a:buNone/>
            </a:pPr>
            <a:r>
              <a:rPr lang="en-US" sz="810" b="1" dirty="0">
                <a:solidFill>
                  <a:srgbClr val="106E90"/>
                </a:solidFill>
                <a:latin typeface="Arial" pitchFamily="34" charset="0"/>
                <a:ea typeface="Arial" pitchFamily="34" charset="-122"/>
                <a:cs typeface="Arial" pitchFamily="34" charset="-120"/>
              </a:rPr>
              <a:t>EMAIL</a:t>
            </a:r>
            <a:endParaRPr lang="en-US" sz="810" dirty="0"/>
          </a:p>
        </p:txBody>
      </p:sp>
      <p:sp>
        <p:nvSpPr>
          <p:cNvPr id="14" name="Text 12"/>
          <p:cNvSpPr/>
          <p:nvPr/>
        </p:nvSpPr>
        <p:spPr>
          <a:xfrm>
            <a:off x="804672" y="1956816"/>
            <a:ext cx="3291840" cy="256032"/>
          </a:xfrm>
          <a:prstGeom prst="rect">
            <a:avLst/>
          </a:prstGeom>
          <a:noFill/>
          <a:ln/>
        </p:spPr>
        <p:txBody>
          <a:bodyPr wrap="square" lIns="0" tIns="0" rIns="0" bIns="0" rtlCol="0" anchor="ctr">
            <a:normAutofit/>
          </a:bodyPr>
          <a:lstStyle/>
          <a:p>
            <a:pPr indent="0" marL="0">
              <a:buNone/>
            </a:pPr>
            <a:r>
              <a:rPr lang="en-US" sz="1470" b="1" dirty="0">
                <a:solidFill>
                  <a:srgbClr val="1D252B"/>
                </a:solidFill>
                <a:latin typeface="Arial" pitchFamily="34" charset="0"/>
                <a:ea typeface="Arial" pitchFamily="34" charset="-122"/>
                <a:cs typeface="Arial" pitchFamily="34" charset="-120"/>
              </a:rPr>
              <a:t>HTTP as timing testbed</a:t>
            </a:r>
            <a:endParaRPr lang="en-US" sz="1470" dirty="0"/>
          </a:p>
        </p:txBody>
      </p:sp>
      <p:sp>
        <p:nvSpPr>
          <p:cNvPr id="15" name="Text 13"/>
          <p:cNvSpPr/>
          <p:nvPr/>
        </p:nvSpPr>
        <p:spPr>
          <a:xfrm>
            <a:off x="804672" y="2295144"/>
            <a:ext cx="3291840" cy="228600"/>
          </a:xfrm>
          <a:prstGeom prst="rect">
            <a:avLst/>
          </a:prstGeom>
          <a:noFill/>
          <a:ln/>
        </p:spPr>
        <p:txBody>
          <a:bodyPr wrap="square" lIns="0" tIns="0" rIns="0" bIns="0" rtlCol="0" anchor="ctr">
            <a:normAutofit/>
          </a:bodyPr>
          <a:lstStyle/>
          <a:p>
            <a:pPr indent="0" marL="0">
              <a:buNone/>
            </a:pPr>
            <a:r>
              <a:rPr lang="en-US" sz="1040" dirty="0">
                <a:solidFill>
                  <a:srgbClr val="5B6871"/>
                </a:solidFill>
                <a:latin typeface="Arial" pitchFamily="34" charset="0"/>
                <a:ea typeface="Arial" pitchFamily="34" charset="-122"/>
                <a:cs typeface="Arial" pitchFamily="34" charset="-120"/>
              </a:rPr>
              <a:t>Stable action, clear replay traces, easy cell diversity.</a:t>
            </a:r>
            <a:endParaRPr lang="en-US" sz="1040" dirty="0"/>
          </a:p>
        </p:txBody>
      </p:sp>
      <p:sp>
        <p:nvSpPr>
          <p:cNvPr id="16" name="Text 14"/>
          <p:cNvSpPr/>
          <p:nvPr/>
        </p:nvSpPr>
        <p:spPr>
          <a:xfrm>
            <a:off x="804672" y="2578608"/>
            <a:ext cx="3346704" cy="256032"/>
          </a:xfrm>
          <a:prstGeom prst="rect">
            <a:avLst/>
          </a:prstGeom>
          <a:noFill/>
          <a:ln/>
        </p:spPr>
        <p:txBody>
          <a:bodyPr wrap="square" lIns="0" tIns="0" rIns="0" bIns="0" rtlCol="0" anchor="ctr">
            <a:normAutofit/>
          </a:bodyPr>
          <a:lstStyle/>
          <a:p>
            <a:pPr indent="0" marL="0">
              <a:buNone/>
            </a:pPr>
            <a:r>
              <a:rPr lang="en-US" sz="1020" dirty="0">
                <a:solidFill>
                  <a:srgbClr val="5B6871"/>
                </a:solidFill>
                <a:latin typeface="Arial" pitchFamily="34" charset="0"/>
                <a:ea typeface="Arial" pitchFamily="34" charset="-122"/>
                <a:cs typeface="Arial" pitchFamily="34" charset="-120"/>
              </a:rPr>
              <a:t>I did not depend on marker exfiltration as a private strategy.</a:t>
            </a:r>
            <a:endParaRPr lang="en-US" sz="1020" dirty="0"/>
          </a:p>
        </p:txBody>
      </p:sp>
      <p:sp>
        <p:nvSpPr>
          <p:cNvPr id="17" name="Text 15"/>
          <p:cNvSpPr/>
          <p:nvPr/>
        </p:nvSpPr>
        <p:spPr>
          <a:xfrm>
            <a:off x="4992624" y="1956816"/>
            <a:ext cx="3291840" cy="256032"/>
          </a:xfrm>
          <a:prstGeom prst="rect">
            <a:avLst/>
          </a:prstGeom>
          <a:noFill/>
          <a:ln/>
        </p:spPr>
        <p:txBody>
          <a:bodyPr wrap="square" lIns="0" tIns="0" rIns="0" bIns="0" rtlCol="0" anchor="ctr">
            <a:normAutofit/>
          </a:bodyPr>
          <a:lstStyle/>
          <a:p>
            <a:pPr indent="0" marL="0">
              <a:buNone/>
            </a:pPr>
            <a:r>
              <a:rPr lang="en-US" sz="1470" b="1" dirty="0">
                <a:solidFill>
                  <a:srgbClr val="1D252B"/>
                </a:solidFill>
                <a:latin typeface="Arial" pitchFamily="34" charset="0"/>
                <a:ea typeface="Arial" pitchFamily="34" charset="-122"/>
                <a:cs typeface="Arial" pitchFamily="34" charset="-120"/>
              </a:rPr>
              <a:t>Email as final family</a:t>
            </a:r>
            <a:endParaRPr lang="en-US" sz="1470" dirty="0"/>
          </a:p>
        </p:txBody>
      </p:sp>
      <p:sp>
        <p:nvSpPr>
          <p:cNvPr id="18" name="Text 16"/>
          <p:cNvSpPr/>
          <p:nvPr/>
        </p:nvSpPr>
        <p:spPr>
          <a:xfrm>
            <a:off x="4992624" y="2295144"/>
            <a:ext cx="3291840" cy="219456"/>
          </a:xfrm>
          <a:prstGeom prst="rect">
            <a:avLst/>
          </a:prstGeom>
          <a:noFill/>
          <a:ln/>
        </p:spPr>
        <p:txBody>
          <a:bodyPr wrap="square" lIns="0" tIns="0" rIns="0" bIns="0" rtlCol="0" anchor="ctr">
            <a:normAutofit/>
          </a:bodyPr>
          <a:lstStyle/>
          <a:p>
            <a:pPr indent="0" marL="0">
              <a:buNone/>
            </a:pPr>
            <a:r>
              <a:rPr lang="en-US" sz="1050" dirty="0">
                <a:solidFill>
                  <a:srgbClr val="5B6871"/>
                </a:solidFill>
                <a:latin typeface="Arial" pitchFamily="34" charset="0"/>
                <a:ea typeface="Arial" pitchFamily="34" charset="-122"/>
                <a:cs typeface="Arial" pitchFamily="34" charset="-120"/>
              </a:rPr>
              <a:t>Same replay optimization idea, new schema.</a:t>
            </a:r>
            <a:endParaRPr lang="en-US" sz="1050" dirty="0"/>
          </a:p>
        </p:txBody>
      </p:sp>
      <p:sp>
        <p:nvSpPr>
          <p:cNvPr id="19" name="Text 17"/>
          <p:cNvSpPr/>
          <p:nvPr/>
        </p:nvSpPr>
        <p:spPr>
          <a:xfrm>
            <a:off x="4992624" y="2578608"/>
            <a:ext cx="3374136" cy="283464"/>
          </a:xfrm>
          <a:prstGeom prst="rect">
            <a:avLst/>
          </a:prstGeom>
          <a:noFill/>
          <a:ln/>
        </p:spPr>
        <p:txBody>
          <a:bodyPr wrap="square" lIns="0" tIns="0" rIns="0" bIns="0" rtlCol="0" anchor="ctr">
            <a:normAutofit/>
          </a:bodyPr>
          <a:lstStyle/>
          <a:p>
            <a:pPr indent="0" marL="0">
              <a:buNone/>
            </a:pPr>
            <a:r>
              <a:rPr lang="en-US" sz="1020" dirty="0">
                <a:solidFill>
                  <a:srgbClr val="5B6871"/>
                </a:solidFill>
                <a:latin typeface="Arial" pitchFamily="34" charset="0"/>
                <a:ea typeface="Arial" pitchFamily="34" charset="-122"/>
                <a:cs typeface="Arial" pitchFamily="34" charset="-120"/>
              </a:rPr>
              <a:t>Retuned recipients, fields, and model-specific output behavior.</a:t>
            </a:r>
            <a:endParaRPr lang="en-US" sz="1020" dirty="0"/>
          </a:p>
        </p:txBody>
      </p:sp>
      <p:sp>
        <p:nvSpPr>
          <p:cNvPr id="20" name="Text 18"/>
          <p:cNvSpPr/>
          <p:nvPr/>
        </p:nvSpPr>
        <p:spPr>
          <a:xfrm>
            <a:off x="4370832" y="2020824"/>
            <a:ext cx="384048" cy="256032"/>
          </a:xfrm>
          <a:prstGeom prst="rect">
            <a:avLst/>
          </a:prstGeom>
          <a:noFill/>
          <a:ln/>
        </p:spPr>
        <p:txBody>
          <a:bodyPr wrap="square" lIns="0" tIns="0" rIns="0" bIns="0" rtlCol="0" anchor="ctr">
            <a:normAutofit/>
          </a:bodyPr>
          <a:lstStyle/>
          <a:p>
            <a:pPr algn="ctr" indent="0" marL="0">
              <a:buNone/>
            </a:pPr>
            <a:r>
              <a:rPr lang="en-US" sz="2000" b="1" dirty="0">
                <a:solidFill>
                  <a:srgbClr val="106E90"/>
                </a:solidFill>
                <a:latin typeface="Arial" pitchFamily="34" charset="0"/>
                <a:ea typeface="Arial" pitchFamily="34" charset="-122"/>
                <a:cs typeface="Arial" pitchFamily="34" charset="-120"/>
              </a:rPr>
              <a:t>→</a:t>
            </a:r>
            <a:endParaRPr lang="en-US" sz="2000" dirty="0"/>
          </a:p>
        </p:txBody>
      </p:sp>
      <p:sp>
        <p:nvSpPr>
          <p:cNvPr id="21" name="Shape 19"/>
          <p:cNvSpPr/>
          <p:nvPr/>
        </p:nvSpPr>
        <p:spPr>
          <a:xfrm>
            <a:off x="713232" y="3291840"/>
            <a:ext cx="3749040" cy="621792"/>
          </a:xfrm>
          <a:prstGeom prst="roundRect">
            <a:avLst>
              <a:gd name="adj" fmla="val 13235"/>
            </a:avLst>
          </a:prstGeom>
          <a:solidFill>
            <a:srgbClr val="F6F8FA"/>
          </a:solidFill>
          <a:ln w="8890">
            <a:solidFill>
              <a:srgbClr val="DFE5E9"/>
            </a:solidFill>
            <a:prstDash val="solid"/>
          </a:ln>
        </p:spPr>
      </p:sp>
      <p:sp>
        <p:nvSpPr>
          <p:cNvPr id="22" name="Shape 20"/>
          <p:cNvSpPr/>
          <p:nvPr/>
        </p:nvSpPr>
        <p:spPr>
          <a:xfrm>
            <a:off x="4672584" y="3291840"/>
            <a:ext cx="3776472" cy="621792"/>
          </a:xfrm>
          <a:prstGeom prst="roundRect">
            <a:avLst>
              <a:gd name="adj" fmla="val 13235"/>
            </a:avLst>
          </a:prstGeom>
          <a:solidFill>
            <a:srgbClr val="EAF7EE"/>
          </a:solidFill>
          <a:ln w="8890">
            <a:solidFill>
              <a:srgbClr val="D2E8D6"/>
            </a:solidFill>
            <a:prstDash val="solid"/>
          </a:ln>
        </p:spPr>
      </p:sp>
      <p:sp>
        <p:nvSpPr>
          <p:cNvPr id="23" name="Text 21"/>
          <p:cNvSpPr/>
          <p:nvPr/>
        </p:nvSpPr>
        <p:spPr>
          <a:xfrm>
            <a:off x="905256" y="3410712"/>
            <a:ext cx="3456432" cy="173736"/>
          </a:xfrm>
          <a:prstGeom prst="rect">
            <a:avLst/>
          </a:prstGeom>
          <a:noFill/>
          <a:ln/>
        </p:spPr>
        <p:txBody>
          <a:bodyPr wrap="square" lIns="0" tIns="0" rIns="0" bIns="0" rtlCol="0" anchor="ctr">
            <a:normAutofit/>
          </a:bodyPr>
          <a:lstStyle/>
          <a:p>
            <a:pPr indent="0" marL="0">
              <a:buNone/>
            </a:pPr>
            <a:r>
              <a:rPr lang="en-US" sz="1200" b="1" dirty="0">
                <a:solidFill>
                  <a:srgbClr val="1D252B"/>
                </a:solidFill>
                <a:latin typeface="Arial" pitchFamily="34" charset="0"/>
                <a:ea typeface="Arial" pitchFamily="34" charset="-122"/>
                <a:cs typeface="Arial" pitchFamily="34" charset="-120"/>
              </a:rPr>
              <a:t>Highest public v50</a:t>
            </a:r>
            <a:endParaRPr lang="en-US" sz="1200" dirty="0"/>
          </a:p>
        </p:txBody>
      </p:sp>
      <p:sp>
        <p:nvSpPr>
          <p:cNvPr id="24" name="Text 22"/>
          <p:cNvSpPr/>
          <p:nvPr/>
        </p:nvSpPr>
        <p:spPr>
          <a:xfrm>
            <a:off x="905256" y="3630168"/>
            <a:ext cx="3447288" cy="192024"/>
          </a:xfrm>
          <a:prstGeom prst="rect">
            <a:avLst/>
          </a:prstGeom>
          <a:noFill/>
          <a:ln/>
        </p:spPr>
        <p:txBody>
          <a:bodyPr wrap="square" lIns="0" tIns="0" rIns="0" bIns="0" rtlCol="0" anchor="ctr">
            <a:normAutofit/>
          </a:bodyPr>
          <a:lstStyle/>
          <a:p>
            <a:pPr indent="0" marL="0">
              <a:buNone/>
            </a:pPr>
            <a:r>
              <a:rPr lang="en-US" sz="1180" dirty="0">
                <a:solidFill>
                  <a:srgbClr val="B7584C"/>
                </a:solidFill>
                <a:latin typeface="Arial" pitchFamily="34" charset="0"/>
                <a:ea typeface="Arial" pitchFamily="34" charset="-122"/>
                <a:cs typeface="Arial" pitchFamily="34" charset="-120"/>
              </a:rPr>
              <a:t>115.240 public → 0.000 private</a:t>
            </a:r>
            <a:endParaRPr lang="en-US" sz="1180" dirty="0"/>
          </a:p>
        </p:txBody>
      </p:sp>
      <p:sp>
        <p:nvSpPr>
          <p:cNvPr id="25" name="Text 23"/>
          <p:cNvSpPr/>
          <p:nvPr/>
        </p:nvSpPr>
        <p:spPr>
          <a:xfrm>
            <a:off x="4855464" y="3410712"/>
            <a:ext cx="3337560" cy="173736"/>
          </a:xfrm>
          <a:prstGeom prst="rect">
            <a:avLst/>
          </a:prstGeom>
          <a:noFill/>
          <a:ln/>
        </p:spPr>
        <p:txBody>
          <a:bodyPr wrap="square" lIns="0" tIns="0" rIns="0" bIns="0" rtlCol="0" anchor="ctr">
            <a:normAutofit/>
          </a:bodyPr>
          <a:lstStyle/>
          <a:p>
            <a:pPr indent="0" marL="0">
              <a:buNone/>
            </a:pPr>
            <a:r>
              <a:rPr lang="en-US" sz="1200" b="1" dirty="0">
                <a:solidFill>
                  <a:srgbClr val="1D252B"/>
                </a:solidFill>
                <a:latin typeface="Arial" pitchFamily="34" charset="0"/>
                <a:ea typeface="Arial" pitchFamily="34" charset="-122"/>
                <a:cs typeface="Arial" pitchFamily="34" charset="-120"/>
              </a:rPr>
              <a:t>Selected email v57</a:t>
            </a:r>
            <a:endParaRPr lang="en-US" sz="1200" dirty="0"/>
          </a:p>
        </p:txBody>
      </p:sp>
      <p:sp>
        <p:nvSpPr>
          <p:cNvPr id="26" name="Text 24"/>
          <p:cNvSpPr/>
          <p:nvPr/>
        </p:nvSpPr>
        <p:spPr>
          <a:xfrm>
            <a:off x="4855464" y="3630168"/>
            <a:ext cx="3355848" cy="192024"/>
          </a:xfrm>
          <a:prstGeom prst="rect">
            <a:avLst/>
          </a:prstGeom>
          <a:noFill/>
          <a:ln/>
        </p:spPr>
        <p:txBody>
          <a:bodyPr wrap="square" lIns="0" tIns="0" rIns="0" bIns="0" rtlCol="0" anchor="ctr">
            <a:normAutofit/>
          </a:bodyPr>
          <a:lstStyle/>
          <a:p>
            <a:pPr indent="0" marL="0">
              <a:buNone/>
            </a:pPr>
            <a:r>
              <a:rPr lang="en-US" sz="1180" b="1" dirty="0">
                <a:solidFill>
                  <a:srgbClr val="25A94D"/>
                </a:solidFill>
                <a:latin typeface="Arial" pitchFamily="34" charset="0"/>
                <a:ea typeface="Arial" pitchFamily="34" charset="-122"/>
                <a:cs typeface="Arial" pitchFamily="34" charset="-120"/>
              </a:rPr>
              <a:t>40.155 public → 40.365 private</a:t>
            </a:r>
            <a:endParaRPr lang="en-US" sz="1180" dirty="0"/>
          </a:p>
        </p:txBody>
      </p:sp>
      <p:sp>
        <p:nvSpPr>
          <p:cNvPr id="27" name="Shape 25"/>
          <p:cNvSpPr/>
          <p:nvPr/>
        </p:nvSpPr>
        <p:spPr>
          <a:xfrm>
            <a:off x="868680" y="4251960"/>
            <a:ext cx="7406640" cy="374904"/>
          </a:xfrm>
          <a:prstGeom prst="roundRect">
            <a:avLst>
              <a:gd name="adj" fmla="val 21951"/>
            </a:avLst>
          </a:prstGeom>
          <a:solidFill>
            <a:srgbClr val="F6F8FA"/>
          </a:solidFill>
          <a:ln w="12700">
            <a:solidFill>
              <a:srgbClr val="F6F8FA"/>
            </a:solidFill>
            <a:prstDash val="solid"/>
          </a:ln>
        </p:spPr>
      </p:sp>
      <p:sp>
        <p:nvSpPr>
          <p:cNvPr id="28" name="Text 26"/>
          <p:cNvSpPr/>
          <p:nvPr/>
        </p:nvSpPr>
        <p:spPr>
          <a:xfrm>
            <a:off x="1051560" y="4352544"/>
            <a:ext cx="7086600" cy="173736"/>
          </a:xfrm>
          <a:prstGeom prst="rect">
            <a:avLst/>
          </a:prstGeom>
          <a:noFill/>
          <a:ln/>
        </p:spPr>
        <p:txBody>
          <a:bodyPr wrap="square" lIns="0" tIns="0" rIns="0" bIns="0" rtlCol="0" anchor="ctr">
            <a:normAutofit/>
          </a:bodyPr>
          <a:lstStyle/>
          <a:p>
            <a:pPr algn="ctr" indent="0" marL="0">
              <a:buNone/>
            </a:pPr>
            <a:r>
              <a:rPr lang="en-US" sz="1240" b="1" dirty="0">
                <a:solidFill>
                  <a:srgbClr val="106E90"/>
                </a:solidFill>
                <a:latin typeface="Arial" pitchFamily="34" charset="0"/>
                <a:ea typeface="Arial" pitchFamily="34" charset="-122"/>
                <a:cs typeface="Arial" pitchFamily="34" charset="-120"/>
              </a:rPr>
              <a:t>The marker family failed. The work on its execution path did not disappear.</a:t>
            </a:r>
            <a:endParaRPr lang="en-US" sz="12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01752"/>
            <a:ext cx="8138160" cy="393192"/>
          </a:xfrm>
          <a:prstGeom prst="rect">
            <a:avLst/>
          </a:prstGeom>
          <a:noFill/>
          <a:ln/>
        </p:spPr>
        <p:txBody>
          <a:bodyPr wrap="square" lIns="0" tIns="0" rIns="0" bIns="0" rtlCol="0" anchor="ctr">
            <a:normAutofit/>
          </a:bodyPr>
          <a:lstStyle/>
          <a:p>
            <a:pPr indent="0" marL="0">
              <a:buNone/>
            </a:pPr>
            <a:r>
              <a:rPr lang="en-US" sz="2400" b="1" dirty="0">
                <a:solidFill>
                  <a:srgbClr val="1D252B"/>
                </a:solidFill>
                <a:latin typeface="Arial" pitchFamily="34" charset="0"/>
                <a:ea typeface="Arial" pitchFamily="34" charset="-122"/>
                <a:cs typeface="Arial" pitchFamily="34" charset="-120"/>
              </a:rPr>
              <a:t>Takeaways</a:t>
            </a:r>
            <a:endParaRPr lang="en-US" sz="2400" dirty="0"/>
          </a:p>
        </p:txBody>
      </p:sp>
      <p:sp>
        <p:nvSpPr>
          <p:cNvPr id="3" name="Shape 1"/>
          <p:cNvSpPr/>
          <p:nvPr/>
        </p:nvSpPr>
        <p:spPr>
          <a:xfrm>
            <a:off x="502920" y="932688"/>
            <a:ext cx="8138160" cy="0"/>
          </a:xfrm>
          <a:prstGeom prst="line">
            <a:avLst/>
          </a:prstGeom>
          <a:noFill/>
          <a:ln w="27940">
            <a:solidFill>
              <a:srgbClr val="FFDF3C"/>
            </a:solidFill>
            <a:prstDash val="solid"/>
          </a:ln>
        </p:spPr>
      </p:sp>
      <p:sp>
        <p:nvSpPr>
          <p:cNvPr id="4" name="Text 2"/>
          <p:cNvSpPr/>
          <p:nvPr/>
        </p:nvSpPr>
        <p:spPr>
          <a:xfrm>
            <a:off x="521208" y="1014984"/>
            <a:ext cx="8138160" cy="274320"/>
          </a:xfrm>
          <a:prstGeom prst="rect">
            <a:avLst/>
          </a:prstGeom>
          <a:noFill/>
          <a:ln/>
        </p:spPr>
        <p:txBody>
          <a:bodyPr wrap="square" lIns="0" tIns="0" rIns="0" bIns="0" rtlCol="0" anchor="ctr">
            <a:normAutofit/>
          </a:bodyPr>
          <a:lstStyle/>
          <a:p>
            <a:pPr indent="0" marL="0">
              <a:buNone/>
            </a:pPr>
            <a:r>
              <a:rPr lang="en-US" sz="1070" dirty="0">
                <a:solidFill>
                  <a:srgbClr val="5B6871"/>
                </a:solidFill>
                <a:latin typeface="Arial" pitchFamily="34" charset="0"/>
                <a:ea typeface="Arial" pitchFamily="34" charset="-122"/>
                <a:cs typeface="Arial" pitchFamily="34" charset="-120"/>
              </a:rPr>
              <a:t>What I would remember from this solution.</a:t>
            </a:r>
            <a:endParaRPr lang="en-US" sz="1070" dirty="0"/>
          </a:p>
        </p:txBody>
      </p:sp>
      <p:sp>
        <p:nvSpPr>
          <p:cNvPr id="5" name="Text 3"/>
          <p:cNvSpPr/>
          <p:nvPr/>
        </p:nvSpPr>
        <p:spPr>
          <a:xfrm>
            <a:off x="475488" y="4800600"/>
            <a:ext cx="914400" cy="228600"/>
          </a:xfrm>
          <a:prstGeom prst="rect">
            <a:avLst/>
          </a:prstGeom>
          <a:noFill/>
          <a:ln/>
        </p:spPr>
        <p:txBody>
          <a:bodyPr wrap="square" lIns="0" tIns="0" rIns="0" bIns="0" rtlCol="0" anchor="ctr">
            <a:normAutofit/>
          </a:bodyPr>
          <a:lstStyle/>
          <a:p>
            <a:pPr indent="0" marL="0">
              <a:buNone/>
            </a:pPr>
            <a:r>
              <a:rPr lang="en-US" sz="1250" b="1" dirty="0">
                <a:solidFill>
                  <a:srgbClr val="24B6E6"/>
                </a:solidFill>
                <a:latin typeface="Arial" pitchFamily="34" charset="0"/>
                <a:ea typeface="Arial" pitchFamily="34" charset="-122"/>
                <a:cs typeface="Arial" pitchFamily="34" charset="-120"/>
              </a:rPr>
              <a:t>kaggle</a:t>
            </a:r>
            <a:endParaRPr lang="en-US" sz="1250" dirty="0"/>
          </a:p>
        </p:txBody>
      </p:sp>
      <p:sp>
        <p:nvSpPr>
          <p:cNvPr id="6" name="Text 4"/>
          <p:cNvSpPr/>
          <p:nvPr/>
        </p:nvSpPr>
        <p:spPr>
          <a:xfrm>
            <a:off x="5577840" y="4828032"/>
            <a:ext cx="2834640" cy="146304"/>
          </a:xfrm>
          <a:prstGeom prst="rect">
            <a:avLst/>
          </a:prstGeom>
          <a:noFill/>
          <a:ln/>
        </p:spPr>
        <p:txBody>
          <a:bodyPr wrap="square" lIns="0" tIns="0" rIns="0" bIns="0" rtlCol="0" anchor="ctr">
            <a:normAutofit/>
          </a:bodyPr>
          <a:lstStyle/>
          <a:p>
            <a:pPr algn="r" indent="0" marL="0">
              <a:buNone/>
            </a:pPr>
            <a:r>
              <a:rPr lang="en-US" sz="670" dirty="0">
                <a:solidFill>
                  <a:srgbClr val="89959C"/>
                </a:solidFill>
                <a:latin typeface="Arial" pitchFamily="34" charset="0"/>
                <a:ea typeface="Arial" pitchFamily="34" charset="-122"/>
                <a:cs typeface="Arial" pitchFamily="34" charset="-120"/>
              </a:rPr>
              <a:t>Giovanny Rodríguez  /  AI Agent Security</a:t>
            </a:r>
            <a:endParaRPr lang="en-US" sz="670" dirty="0"/>
          </a:p>
        </p:txBody>
      </p:sp>
      <p:sp>
        <p:nvSpPr>
          <p:cNvPr id="7" name="Text 5"/>
          <p:cNvSpPr/>
          <p:nvPr/>
        </p:nvSpPr>
        <p:spPr>
          <a:xfrm>
            <a:off x="8622792" y="4800600"/>
            <a:ext cx="155448" cy="182880"/>
          </a:xfrm>
          <a:prstGeom prst="rect">
            <a:avLst/>
          </a:prstGeom>
          <a:noFill/>
          <a:ln/>
        </p:spPr>
        <p:txBody>
          <a:bodyPr wrap="square" lIns="0" tIns="0" rIns="0" bIns="0" rtlCol="0" anchor="ctr">
            <a:normAutofit/>
          </a:bodyPr>
          <a:lstStyle/>
          <a:p>
            <a:pPr algn="r" indent="0" marL="0">
              <a:buNone/>
            </a:pPr>
            <a:r>
              <a:rPr lang="en-US" sz="820" dirty="0">
                <a:solidFill>
                  <a:srgbClr val="89959C"/>
                </a:solidFill>
                <a:latin typeface="Arial" pitchFamily="34" charset="0"/>
                <a:ea typeface="Arial" pitchFamily="34" charset="-122"/>
                <a:cs typeface="Arial" pitchFamily="34" charset="-120"/>
              </a:rPr>
              <a:t>8</a:t>
            </a:r>
            <a:endParaRPr lang="en-US" sz="820" dirty="0"/>
          </a:p>
        </p:txBody>
      </p:sp>
      <p:sp>
        <p:nvSpPr>
          <p:cNvPr id="8" name="Shape 6"/>
          <p:cNvSpPr/>
          <p:nvPr/>
        </p:nvSpPr>
        <p:spPr>
          <a:xfrm>
            <a:off x="841248" y="1380744"/>
            <a:ext cx="7498080" cy="530352"/>
          </a:xfrm>
          <a:prstGeom prst="roundRect">
            <a:avLst>
              <a:gd name="adj" fmla="val 15517"/>
            </a:avLst>
          </a:prstGeom>
          <a:solidFill>
            <a:srgbClr val="F6F8FA"/>
          </a:solidFill>
          <a:ln w="8890">
            <a:solidFill>
              <a:srgbClr val="DFE5E9"/>
            </a:solidFill>
            <a:prstDash val="solid"/>
          </a:ln>
        </p:spPr>
      </p:sp>
      <p:sp>
        <p:nvSpPr>
          <p:cNvPr id="9" name="Shape 7"/>
          <p:cNvSpPr/>
          <p:nvPr/>
        </p:nvSpPr>
        <p:spPr>
          <a:xfrm>
            <a:off x="987552" y="1490472"/>
            <a:ext cx="292608" cy="292608"/>
          </a:xfrm>
          <a:prstGeom prst="ellipse">
            <a:avLst/>
          </a:prstGeom>
          <a:solidFill>
            <a:srgbClr val="24B6E6"/>
          </a:solidFill>
          <a:ln w="12700">
            <a:solidFill>
              <a:srgbClr val="24B6E6"/>
            </a:solidFill>
            <a:prstDash val="solid"/>
          </a:ln>
        </p:spPr>
      </p:sp>
      <p:sp>
        <p:nvSpPr>
          <p:cNvPr id="10" name="Text 8"/>
          <p:cNvSpPr/>
          <p:nvPr/>
        </p:nvSpPr>
        <p:spPr>
          <a:xfrm>
            <a:off x="987552" y="1538935"/>
            <a:ext cx="292608" cy="155448"/>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Arial" pitchFamily="34" charset="0"/>
                <a:ea typeface="Arial" pitchFamily="34" charset="-122"/>
                <a:cs typeface="Arial" pitchFamily="34" charset="-120"/>
              </a:rPr>
              <a:t>1</a:t>
            </a:r>
            <a:endParaRPr lang="en-US" sz="1080" dirty="0"/>
          </a:p>
        </p:txBody>
      </p:sp>
      <p:sp>
        <p:nvSpPr>
          <p:cNvPr id="11" name="Text 9"/>
          <p:cNvSpPr/>
          <p:nvPr/>
        </p:nvSpPr>
        <p:spPr>
          <a:xfrm>
            <a:off x="1463040" y="1517904"/>
            <a:ext cx="2999232" cy="219456"/>
          </a:xfrm>
          <a:prstGeom prst="rect">
            <a:avLst/>
          </a:prstGeom>
          <a:noFill/>
          <a:ln/>
        </p:spPr>
        <p:txBody>
          <a:bodyPr wrap="square" lIns="0" tIns="0" rIns="0" bIns="0" rtlCol="0" anchor="ctr">
            <a:normAutofit/>
          </a:bodyPr>
          <a:lstStyle/>
          <a:p>
            <a:pPr indent="0" marL="0">
              <a:buNone/>
            </a:pPr>
            <a:r>
              <a:rPr lang="en-US" sz="1310" b="1" dirty="0">
                <a:solidFill>
                  <a:srgbClr val="1D252B"/>
                </a:solidFill>
                <a:latin typeface="Arial" pitchFamily="34" charset="0"/>
                <a:ea typeface="Arial" pitchFamily="34" charset="-122"/>
                <a:cs typeface="Arial" pitchFamily="34" charset="-120"/>
              </a:rPr>
              <a:t>Optimize the full trajectory</a:t>
            </a:r>
            <a:endParaRPr lang="en-US" sz="1310" dirty="0"/>
          </a:p>
        </p:txBody>
      </p:sp>
      <p:sp>
        <p:nvSpPr>
          <p:cNvPr id="12" name="Text 10"/>
          <p:cNvSpPr/>
          <p:nvPr/>
        </p:nvSpPr>
        <p:spPr>
          <a:xfrm>
            <a:off x="4297680" y="1527048"/>
            <a:ext cx="3712464" cy="210312"/>
          </a:xfrm>
          <a:prstGeom prst="rect">
            <a:avLst/>
          </a:prstGeom>
          <a:noFill/>
          <a:ln/>
        </p:spPr>
        <p:txBody>
          <a:bodyPr wrap="square" lIns="0" tIns="0" rIns="0" bIns="0" rtlCol="0" anchor="ctr">
            <a:normAutofit/>
          </a:bodyPr>
          <a:lstStyle/>
          <a:p>
            <a:pPr indent="0" marL="0">
              <a:buNone/>
            </a:pPr>
            <a:r>
              <a:rPr lang="en-US" sz="1080" dirty="0">
                <a:solidFill>
                  <a:srgbClr val="5B6871"/>
                </a:solidFill>
                <a:latin typeface="Arial" pitchFamily="34" charset="0"/>
                <a:ea typeface="Arial" pitchFamily="34" charset="-122"/>
                <a:cs typeface="Arial" pitchFamily="34" charset="-120"/>
              </a:rPr>
              <a:t>Not only time-to-first-tool.</a:t>
            </a:r>
            <a:endParaRPr lang="en-US" sz="1080" dirty="0"/>
          </a:p>
        </p:txBody>
      </p:sp>
      <p:sp>
        <p:nvSpPr>
          <p:cNvPr id="13" name="Shape 11"/>
          <p:cNvSpPr/>
          <p:nvPr/>
        </p:nvSpPr>
        <p:spPr>
          <a:xfrm>
            <a:off x="841248" y="2048256"/>
            <a:ext cx="7498080" cy="530352"/>
          </a:xfrm>
          <a:prstGeom prst="roundRect">
            <a:avLst>
              <a:gd name="adj" fmla="val 15517"/>
            </a:avLst>
          </a:prstGeom>
          <a:solidFill>
            <a:srgbClr val="FFFFFF"/>
          </a:solidFill>
          <a:ln w="8890">
            <a:solidFill>
              <a:srgbClr val="DFE5E9"/>
            </a:solidFill>
            <a:prstDash val="solid"/>
          </a:ln>
        </p:spPr>
      </p:sp>
      <p:sp>
        <p:nvSpPr>
          <p:cNvPr id="14" name="Shape 12"/>
          <p:cNvSpPr/>
          <p:nvPr/>
        </p:nvSpPr>
        <p:spPr>
          <a:xfrm>
            <a:off x="987552" y="2157984"/>
            <a:ext cx="292608" cy="292608"/>
          </a:xfrm>
          <a:prstGeom prst="ellipse">
            <a:avLst/>
          </a:prstGeom>
          <a:solidFill>
            <a:srgbClr val="106E90"/>
          </a:solidFill>
          <a:ln w="12700">
            <a:solidFill>
              <a:srgbClr val="106E90"/>
            </a:solidFill>
            <a:prstDash val="solid"/>
          </a:ln>
        </p:spPr>
      </p:sp>
      <p:sp>
        <p:nvSpPr>
          <p:cNvPr id="15" name="Text 13"/>
          <p:cNvSpPr/>
          <p:nvPr/>
        </p:nvSpPr>
        <p:spPr>
          <a:xfrm>
            <a:off x="987552" y="2206447"/>
            <a:ext cx="292608" cy="155448"/>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Arial" pitchFamily="34" charset="0"/>
                <a:ea typeface="Arial" pitchFamily="34" charset="-122"/>
                <a:cs typeface="Arial" pitchFamily="34" charset="-120"/>
              </a:rPr>
              <a:t>2</a:t>
            </a:r>
            <a:endParaRPr lang="en-US" sz="1080" dirty="0"/>
          </a:p>
        </p:txBody>
      </p:sp>
      <p:sp>
        <p:nvSpPr>
          <p:cNvPr id="16" name="Text 14"/>
          <p:cNvSpPr/>
          <p:nvPr/>
        </p:nvSpPr>
        <p:spPr>
          <a:xfrm>
            <a:off x="1463040" y="2185416"/>
            <a:ext cx="2999232" cy="219456"/>
          </a:xfrm>
          <a:prstGeom prst="rect">
            <a:avLst/>
          </a:prstGeom>
          <a:noFill/>
          <a:ln/>
        </p:spPr>
        <p:txBody>
          <a:bodyPr wrap="square" lIns="0" tIns="0" rIns="0" bIns="0" rtlCol="0" anchor="ctr">
            <a:normAutofit/>
          </a:bodyPr>
          <a:lstStyle/>
          <a:p>
            <a:pPr indent="0" marL="0">
              <a:buNone/>
            </a:pPr>
            <a:r>
              <a:rPr lang="en-US" sz="1310" b="1" dirty="0">
                <a:solidFill>
                  <a:srgbClr val="1D252B"/>
                </a:solidFill>
                <a:latin typeface="Arial" pitchFamily="34" charset="0"/>
                <a:ea typeface="Arial" pitchFamily="34" charset="-122"/>
                <a:cs typeface="Arial" pitchFamily="34" charset="-120"/>
              </a:rPr>
              <a:t>Use model-specific paths</a:t>
            </a:r>
            <a:endParaRPr lang="en-US" sz="1310" dirty="0"/>
          </a:p>
        </p:txBody>
      </p:sp>
      <p:sp>
        <p:nvSpPr>
          <p:cNvPr id="17" name="Text 15"/>
          <p:cNvSpPr/>
          <p:nvPr/>
        </p:nvSpPr>
        <p:spPr>
          <a:xfrm>
            <a:off x="4297680" y="2194560"/>
            <a:ext cx="3712464" cy="210312"/>
          </a:xfrm>
          <a:prstGeom prst="rect">
            <a:avLst/>
          </a:prstGeom>
          <a:noFill/>
          <a:ln/>
        </p:spPr>
        <p:txBody>
          <a:bodyPr wrap="square" lIns="0" tIns="0" rIns="0" bIns="0" rtlCol="0" anchor="ctr">
            <a:normAutofit/>
          </a:bodyPr>
          <a:lstStyle/>
          <a:p>
            <a:pPr indent="0" marL="0">
              <a:buNone/>
            </a:pPr>
            <a:r>
              <a:rPr lang="en-US" sz="1080" dirty="0">
                <a:solidFill>
                  <a:srgbClr val="5B6871"/>
                </a:solidFill>
                <a:latin typeface="Arial" pitchFamily="34" charset="0"/>
                <a:ea typeface="Arial" pitchFamily="34" charset="-122"/>
                <a:cs typeface="Arial" pitchFamily="34" charset="-120"/>
              </a:rPr>
              <a:t>GPT-OSS and Gemma needed different control points.</a:t>
            </a:r>
            <a:endParaRPr lang="en-US" sz="1080" dirty="0"/>
          </a:p>
        </p:txBody>
      </p:sp>
      <p:sp>
        <p:nvSpPr>
          <p:cNvPr id="18" name="Shape 16"/>
          <p:cNvSpPr/>
          <p:nvPr/>
        </p:nvSpPr>
        <p:spPr>
          <a:xfrm>
            <a:off x="841248" y="2715768"/>
            <a:ext cx="7498080" cy="530352"/>
          </a:xfrm>
          <a:prstGeom prst="roundRect">
            <a:avLst>
              <a:gd name="adj" fmla="val 15517"/>
            </a:avLst>
          </a:prstGeom>
          <a:solidFill>
            <a:srgbClr val="F6F8FA"/>
          </a:solidFill>
          <a:ln w="8890">
            <a:solidFill>
              <a:srgbClr val="DFE5E9"/>
            </a:solidFill>
            <a:prstDash val="solid"/>
          </a:ln>
        </p:spPr>
      </p:sp>
      <p:sp>
        <p:nvSpPr>
          <p:cNvPr id="19" name="Shape 17"/>
          <p:cNvSpPr/>
          <p:nvPr/>
        </p:nvSpPr>
        <p:spPr>
          <a:xfrm>
            <a:off x="987552" y="2825496"/>
            <a:ext cx="292608" cy="292608"/>
          </a:xfrm>
          <a:prstGeom prst="ellipse">
            <a:avLst/>
          </a:prstGeom>
          <a:solidFill>
            <a:srgbClr val="D87E4B"/>
          </a:solidFill>
          <a:ln w="12700">
            <a:solidFill>
              <a:srgbClr val="D87E4B"/>
            </a:solidFill>
            <a:prstDash val="solid"/>
          </a:ln>
        </p:spPr>
      </p:sp>
      <p:sp>
        <p:nvSpPr>
          <p:cNvPr id="20" name="Text 18"/>
          <p:cNvSpPr/>
          <p:nvPr/>
        </p:nvSpPr>
        <p:spPr>
          <a:xfrm>
            <a:off x="987552" y="2873959"/>
            <a:ext cx="292608" cy="155448"/>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Arial" pitchFamily="34" charset="0"/>
                <a:ea typeface="Arial" pitchFamily="34" charset="-122"/>
                <a:cs typeface="Arial" pitchFamily="34" charset="-120"/>
              </a:rPr>
              <a:t>3</a:t>
            </a:r>
            <a:endParaRPr lang="en-US" sz="1080" dirty="0"/>
          </a:p>
        </p:txBody>
      </p:sp>
      <p:sp>
        <p:nvSpPr>
          <p:cNvPr id="21" name="Text 19"/>
          <p:cNvSpPr/>
          <p:nvPr/>
        </p:nvSpPr>
        <p:spPr>
          <a:xfrm>
            <a:off x="1463040" y="2852928"/>
            <a:ext cx="2999232" cy="219456"/>
          </a:xfrm>
          <a:prstGeom prst="rect">
            <a:avLst/>
          </a:prstGeom>
          <a:noFill/>
          <a:ln/>
        </p:spPr>
        <p:txBody>
          <a:bodyPr wrap="square" lIns="0" tIns="0" rIns="0" bIns="0" rtlCol="0" anchor="ctr">
            <a:normAutofit/>
          </a:bodyPr>
          <a:lstStyle/>
          <a:p>
            <a:pPr indent="0" marL="0">
              <a:buNone/>
            </a:pPr>
            <a:r>
              <a:rPr lang="en-US" sz="1310" b="1" dirty="0">
                <a:solidFill>
                  <a:srgbClr val="1D252B"/>
                </a:solidFill>
                <a:latin typeface="Arial" pitchFamily="34" charset="0"/>
                <a:ea typeface="Arial" pitchFamily="34" charset="-122"/>
                <a:cs typeface="Arial" pitchFamily="34" charset="-120"/>
              </a:rPr>
              <a:t>Measure negative results</a:t>
            </a:r>
            <a:endParaRPr lang="en-US" sz="1310" dirty="0"/>
          </a:p>
        </p:txBody>
      </p:sp>
      <p:sp>
        <p:nvSpPr>
          <p:cNvPr id="22" name="Text 20"/>
          <p:cNvSpPr/>
          <p:nvPr/>
        </p:nvSpPr>
        <p:spPr>
          <a:xfrm>
            <a:off x="4297680" y="2862072"/>
            <a:ext cx="3712464" cy="210312"/>
          </a:xfrm>
          <a:prstGeom prst="rect">
            <a:avLst/>
          </a:prstGeom>
          <a:noFill/>
          <a:ln/>
        </p:spPr>
        <p:txBody>
          <a:bodyPr wrap="square" lIns="0" tIns="0" rIns="0" bIns="0" rtlCol="0" anchor="ctr">
            <a:normAutofit/>
          </a:bodyPr>
          <a:lstStyle/>
          <a:p>
            <a:pPr indent="0" marL="0">
              <a:buNone/>
            </a:pPr>
            <a:r>
              <a:rPr lang="en-US" sz="1080" dirty="0">
                <a:solidFill>
                  <a:srgbClr val="5B6871"/>
                </a:solidFill>
                <a:latin typeface="Arial" pitchFamily="34" charset="0"/>
                <a:ea typeface="Arial" pitchFamily="34" charset="-122"/>
                <a:cs typeface="Arial" pitchFamily="34" charset="-120"/>
              </a:rPr>
              <a:t>Some faster first calls made total replay slower.</a:t>
            </a:r>
            <a:endParaRPr lang="en-US" sz="1080" dirty="0"/>
          </a:p>
        </p:txBody>
      </p:sp>
      <p:sp>
        <p:nvSpPr>
          <p:cNvPr id="23" name="Shape 21"/>
          <p:cNvSpPr/>
          <p:nvPr/>
        </p:nvSpPr>
        <p:spPr>
          <a:xfrm>
            <a:off x="841248" y="3383280"/>
            <a:ext cx="7498080" cy="530352"/>
          </a:xfrm>
          <a:prstGeom prst="roundRect">
            <a:avLst>
              <a:gd name="adj" fmla="val 15517"/>
            </a:avLst>
          </a:prstGeom>
          <a:solidFill>
            <a:srgbClr val="FFFFFF"/>
          </a:solidFill>
          <a:ln w="8890">
            <a:solidFill>
              <a:srgbClr val="DFE5E9"/>
            </a:solidFill>
            <a:prstDash val="solid"/>
          </a:ln>
        </p:spPr>
      </p:sp>
      <p:sp>
        <p:nvSpPr>
          <p:cNvPr id="24" name="Shape 22"/>
          <p:cNvSpPr/>
          <p:nvPr/>
        </p:nvSpPr>
        <p:spPr>
          <a:xfrm>
            <a:off x="987552" y="3493008"/>
            <a:ext cx="292608" cy="292608"/>
          </a:xfrm>
          <a:prstGeom prst="ellipse">
            <a:avLst/>
          </a:prstGeom>
          <a:solidFill>
            <a:srgbClr val="25A94D"/>
          </a:solidFill>
          <a:ln w="12700">
            <a:solidFill>
              <a:srgbClr val="25A94D"/>
            </a:solidFill>
            <a:prstDash val="solid"/>
          </a:ln>
        </p:spPr>
      </p:sp>
      <p:sp>
        <p:nvSpPr>
          <p:cNvPr id="25" name="Text 23"/>
          <p:cNvSpPr/>
          <p:nvPr/>
        </p:nvSpPr>
        <p:spPr>
          <a:xfrm>
            <a:off x="987552" y="3541471"/>
            <a:ext cx="292608" cy="155448"/>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Arial" pitchFamily="34" charset="0"/>
                <a:ea typeface="Arial" pitchFamily="34" charset="-122"/>
                <a:cs typeface="Arial" pitchFamily="34" charset="-120"/>
              </a:rPr>
              <a:t>4</a:t>
            </a:r>
            <a:endParaRPr lang="en-US" sz="1080" dirty="0"/>
          </a:p>
        </p:txBody>
      </p:sp>
      <p:sp>
        <p:nvSpPr>
          <p:cNvPr id="26" name="Text 24"/>
          <p:cNvSpPr/>
          <p:nvPr/>
        </p:nvSpPr>
        <p:spPr>
          <a:xfrm>
            <a:off x="1463040" y="3520440"/>
            <a:ext cx="2999232" cy="219456"/>
          </a:xfrm>
          <a:prstGeom prst="rect">
            <a:avLst/>
          </a:prstGeom>
          <a:noFill/>
          <a:ln/>
        </p:spPr>
        <p:txBody>
          <a:bodyPr wrap="square" lIns="0" tIns="0" rIns="0" bIns="0" rtlCol="0" anchor="ctr">
            <a:normAutofit/>
          </a:bodyPr>
          <a:lstStyle/>
          <a:p>
            <a:pPr indent="0" marL="0">
              <a:buNone/>
            </a:pPr>
            <a:r>
              <a:rPr lang="en-US" sz="1310" b="1" dirty="0">
                <a:solidFill>
                  <a:srgbClr val="1D252B"/>
                </a:solidFill>
                <a:latin typeface="Arial" pitchFamily="34" charset="0"/>
                <a:ea typeface="Arial" pitchFamily="34" charset="-122"/>
                <a:cs typeface="Arial" pitchFamily="34" charset="-120"/>
              </a:rPr>
              <a:t>Keep mechanisms diverse</a:t>
            </a:r>
            <a:endParaRPr lang="en-US" sz="1310" dirty="0"/>
          </a:p>
        </p:txBody>
      </p:sp>
      <p:sp>
        <p:nvSpPr>
          <p:cNvPr id="27" name="Text 25"/>
          <p:cNvSpPr/>
          <p:nvPr/>
        </p:nvSpPr>
        <p:spPr>
          <a:xfrm>
            <a:off x="4297680" y="3529584"/>
            <a:ext cx="3712464" cy="210312"/>
          </a:xfrm>
          <a:prstGeom prst="rect">
            <a:avLst/>
          </a:prstGeom>
          <a:noFill/>
          <a:ln/>
        </p:spPr>
        <p:txBody>
          <a:bodyPr wrap="square" lIns="0" tIns="0" rIns="0" bIns="0" rtlCol="0" anchor="ctr">
            <a:normAutofit/>
          </a:bodyPr>
          <a:lstStyle/>
          <a:p>
            <a:pPr indent="0" marL="0">
              <a:buNone/>
            </a:pPr>
            <a:r>
              <a:rPr lang="en-US" sz="1080" dirty="0">
                <a:solidFill>
                  <a:srgbClr val="5B6871"/>
                </a:solidFill>
                <a:latin typeface="Arial" pitchFamily="34" charset="0"/>
                <a:ea typeface="Arial" pitchFamily="34" charset="-122"/>
                <a:cs typeface="Arial" pitchFamily="34" charset="-120"/>
              </a:rPr>
              <a:t>The best public family did not transfer privately.</a:t>
            </a:r>
            <a:endParaRPr lang="en-US" sz="1080" dirty="0"/>
          </a:p>
        </p:txBody>
      </p:sp>
      <p:sp>
        <p:nvSpPr>
          <p:cNvPr id="28" name="Shape 26"/>
          <p:cNvSpPr/>
          <p:nvPr/>
        </p:nvSpPr>
        <p:spPr>
          <a:xfrm>
            <a:off x="841248" y="4224528"/>
            <a:ext cx="7498080" cy="420624"/>
          </a:xfrm>
          <a:prstGeom prst="rect">
            <a:avLst/>
          </a:prstGeom>
          <a:solidFill>
            <a:srgbClr val="EFF9FC"/>
          </a:solidFill>
          <a:ln w="12700">
            <a:solidFill>
              <a:srgbClr val="EFF9FC"/>
            </a:solidFill>
            <a:prstDash val="solid"/>
          </a:ln>
        </p:spPr>
      </p:sp>
      <p:sp>
        <p:nvSpPr>
          <p:cNvPr id="29" name="Text 27"/>
          <p:cNvSpPr/>
          <p:nvPr/>
        </p:nvSpPr>
        <p:spPr>
          <a:xfrm>
            <a:off x="1024128" y="4288536"/>
            <a:ext cx="2286000" cy="219456"/>
          </a:xfrm>
          <a:prstGeom prst="rect">
            <a:avLst/>
          </a:prstGeom>
          <a:noFill/>
          <a:ln/>
        </p:spPr>
        <p:txBody>
          <a:bodyPr wrap="square" lIns="0" tIns="0" rIns="0" bIns="0" rtlCol="0" anchor="ctr">
            <a:normAutofit/>
          </a:bodyPr>
          <a:lstStyle/>
          <a:p>
            <a:pPr indent="0" marL="0">
              <a:buNone/>
            </a:pPr>
            <a:r>
              <a:rPr lang="en-US" sz="1720" b="1" dirty="0">
                <a:solidFill>
                  <a:srgbClr val="106E90"/>
                </a:solidFill>
                <a:latin typeface="Arial" pitchFamily="34" charset="0"/>
                <a:ea typeface="Arial" pitchFamily="34" charset="-122"/>
                <a:cs typeface="Arial" pitchFamily="34" charset="-120"/>
              </a:rPr>
              <a:t>Thank you</a:t>
            </a:r>
            <a:endParaRPr lang="en-US" sz="1720" dirty="0"/>
          </a:p>
        </p:txBody>
      </p:sp>
      <p:sp>
        <p:nvSpPr>
          <p:cNvPr id="30" name="Text 28"/>
          <p:cNvSpPr/>
          <p:nvPr/>
        </p:nvSpPr>
        <p:spPr>
          <a:xfrm>
            <a:off x="4727448" y="4306824"/>
            <a:ext cx="3383280" cy="201168"/>
          </a:xfrm>
          <a:prstGeom prst="rect">
            <a:avLst/>
          </a:prstGeom>
          <a:noFill/>
          <a:ln/>
        </p:spPr>
        <p:txBody>
          <a:bodyPr wrap="square" lIns="0" tIns="0" rIns="0" bIns="0" rtlCol="0" anchor="ctr">
            <a:normAutofit/>
          </a:bodyPr>
          <a:lstStyle/>
          <a:p>
            <a:pPr algn="r" indent="0" marL="0">
              <a:buNone/>
            </a:pPr>
            <a:r>
              <a:rPr lang="en-US" sz="1120" dirty="0">
                <a:solidFill>
                  <a:srgbClr val="106E90"/>
                </a:solidFill>
                <a:latin typeface="Arial" pitchFamily="34" charset="0"/>
                <a:ea typeface="Arial" pitchFamily="34" charset="-122"/>
                <a:cs typeface="Arial" pitchFamily="34" charset="-120"/>
              </a:rPr>
              <a:t/>
            </a:r>
            <a:endParaRPr lang="en-US" sz="11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Kaggle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Compiling User Messages into Faster Tool Calls</dc:title>
  <dc:subject>5th place solution — AI Agent Security Multi-Step Tool Attacks</dc:subject>
  <dc:creator>Giovanny Rodríguez</dc:creator>
  <cp:lastModifiedBy>Giovanny Rodríguez</cp:lastModifiedBy>
  <cp:revision>1</cp:revision>
  <dcterms:created xsi:type="dcterms:W3CDTF">2026-10-15T16:05:22Z</dcterms:created>
  <dcterms:modified xsi:type="dcterms:W3CDTF">2026-10-15T16:05:22Z</dcterms:modified>
</cp:coreProperties>
</file>